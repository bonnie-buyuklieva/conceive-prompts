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aveSubsetFonts="1">
  <p:sldMasterIdLst>
    <p:sldMasterId id="2147483660" r:id="rId1"/>
  </p:sldMasterIdLst>
  <p:notesMasterIdLst>
    <p:notesMasterId r:id="rId4"/>
  </p:notesMasterIdLst>
  <p:sldIdLst>
    <p:sldId id="258" r:id="rId2"/>
    <p:sldId id="259" r:id="rId3"/>
  </p:sldIdLst>
  <p:sldSz cx="21383625" cy="15119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83FA"/>
    <a:srgbClr val="EE12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12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443B8-93AA-4544-B5BB-5E25753B17D4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09A20C-E378-4868-8DF3-0200DF8299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6359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1pPr>
    <a:lvl2pPr marL="876041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2pPr>
    <a:lvl3pPr marL="1752082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3pPr>
    <a:lvl4pPr marL="2628123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4pPr>
    <a:lvl5pPr marL="3504164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5pPr>
    <a:lvl6pPr marL="4380205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6pPr>
    <a:lvl7pPr marL="525624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7pPr>
    <a:lvl8pPr marL="613228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8pPr>
    <a:lvl9pPr marL="7008327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96A23-7D6B-7D61-0D32-6B9DC68E2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026577-DEDA-EB5E-2668-CC9FA45D45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2B733-53BF-21A7-D869-1F5210984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A3 poster 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8E87B-753C-B579-9D01-4288DB175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9A20C-E378-4868-8DF3-0200DF82993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3124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2474395"/>
            <a:ext cx="18176081" cy="5263774"/>
          </a:xfrm>
        </p:spPr>
        <p:txBody>
          <a:bodyPr anchor="b"/>
          <a:lstStyle>
            <a:lvl1pPr algn="ctr">
              <a:defRPr sz="132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7941160"/>
            <a:ext cx="16037719" cy="3650342"/>
          </a:xfrm>
        </p:spPr>
        <p:txBody>
          <a:bodyPr/>
          <a:lstStyle>
            <a:lvl1pPr marL="0" indent="0" algn="ctr">
              <a:buNone/>
              <a:defRPr sz="5291"/>
            </a:lvl1pPr>
            <a:lvl2pPr marL="1007943" indent="0" algn="ctr">
              <a:buNone/>
              <a:defRPr sz="4409"/>
            </a:lvl2pPr>
            <a:lvl3pPr marL="2015886" indent="0" algn="ctr">
              <a:buNone/>
              <a:defRPr sz="3968"/>
            </a:lvl3pPr>
            <a:lvl4pPr marL="3023829" indent="0" algn="ctr">
              <a:buNone/>
              <a:defRPr sz="3527"/>
            </a:lvl4pPr>
            <a:lvl5pPr marL="4031772" indent="0" algn="ctr">
              <a:buNone/>
              <a:defRPr sz="3527"/>
            </a:lvl5pPr>
            <a:lvl6pPr marL="5039716" indent="0" algn="ctr">
              <a:buNone/>
              <a:defRPr sz="3527"/>
            </a:lvl6pPr>
            <a:lvl7pPr marL="6047659" indent="0" algn="ctr">
              <a:buNone/>
              <a:defRPr sz="3527"/>
            </a:lvl7pPr>
            <a:lvl8pPr marL="7055602" indent="0" algn="ctr">
              <a:buNone/>
              <a:defRPr sz="3527"/>
            </a:lvl8pPr>
            <a:lvl9pPr marL="8063545" indent="0" algn="ctr">
              <a:buNone/>
              <a:defRPr sz="352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AEA-3544-4968-B0F1-80BB67ABD009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912C-B7EE-4B8A-8172-D74B2D9B1D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518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AEA-3544-4968-B0F1-80BB67ABD009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912C-B7EE-4B8A-8172-D74B2D9B1D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5549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3769342"/>
            <a:ext cx="18443377" cy="6289229"/>
          </a:xfrm>
        </p:spPr>
        <p:txBody>
          <a:bodyPr anchor="b"/>
          <a:lstStyle>
            <a:lvl1pPr>
              <a:defRPr sz="132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10118069"/>
            <a:ext cx="18443377" cy="3307357"/>
          </a:xfrm>
        </p:spPr>
        <p:txBody>
          <a:bodyPr/>
          <a:lstStyle>
            <a:lvl1pPr marL="0" indent="0">
              <a:buNone/>
              <a:defRPr sz="5291">
                <a:solidFill>
                  <a:schemeClr val="tx1">
                    <a:tint val="82000"/>
                  </a:schemeClr>
                </a:solidFill>
              </a:defRPr>
            </a:lvl1pPr>
            <a:lvl2pPr marL="1007943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2pPr>
            <a:lvl3pPr marL="2015886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3pPr>
            <a:lvl4pPr marL="3023829" indent="0">
              <a:buNone/>
              <a:defRPr sz="3527">
                <a:solidFill>
                  <a:schemeClr val="tx1">
                    <a:tint val="82000"/>
                  </a:schemeClr>
                </a:solidFill>
              </a:defRPr>
            </a:lvl4pPr>
            <a:lvl5pPr marL="4031772" indent="0">
              <a:buNone/>
              <a:defRPr sz="3527">
                <a:solidFill>
                  <a:schemeClr val="tx1">
                    <a:tint val="82000"/>
                  </a:schemeClr>
                </a:solidFill>
              </a:defRPr>
            </a:lvl5pPr>
            <a:lvl6pPr marL="5039716" indent="0">
              <a:buNone/>
              <a:defRPr sz="3527">
                <a:solidFill>
                  <a:schemeClr val="tx1">
                    <a:tint val="82000"/>
                  </a:schemeClr>
                </a:solidFill>
              </a:defRPr>
            </a:lvl6pPr>
            <a:lvl7pPr marL="6047659" indent="0">
              <a:buNone/>
              <a:defRPr sz="3527">
                <a:solidFill>
                  <a:schemeClr val="tx1">
                    <a:tint val="82000"/>
                  </a:schemeClr>
                </a:solidFill>
              </a:defRPr>
            </a:lvl7pPr>
            <a:lvl8pPr marL="7055602" indent="0">
              <a:buNone/>
              <a:defRPr sz="3527">
                <a:solidFill>
                  <a:schemeClr val="tx1">
                    <a:tint val="82000"/>
                  </a:schemeClr>
                </a:solidFill>
              </a:defRPr>
            </a:lvl8pPr>
            <a:lvl9pPr marL="8063545" indent="0">
              <a:buNone/>
              <a:defRPr sz="352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AEA-3544-4968-B0F1-80BB67ABD009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912C-B7EE-4B8A-8172-D74B2D9B1D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8963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4024827"/>
            <a:ext cx="9088041" cy="9593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4024827"/>
            <a:ext cx="9088041" cy="9593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AEA-3544-4968-B0F1-80BB67ABD009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912C-B7EE-4B8A-8172-D74B2D9B1D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1008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804969"/>
            <a:ext cx="18443377" cy="29223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3706342"/>
            <a:ext cx="9046274" cy="1816421"/>
          </a:xfrm>
        </p:spPr>
        <p:txBody>
          <a:bodyPr anchor="b"/>
          <a:lstStyle>
            <a:lvl1pPr marL="0" indent="0">
              <a:buNone/>
              <a:defRPr sz="5291" b="1"/>
            </a:lvl1pPr>
            <a:lvl2pPr marL="1007943" indent="0">
              <a:buNone/>
              <a:defRPr sz="4409" b="1"/>
            </a:lvl2pPr>
            <a:lvl3pPr marL="2015886" indent="0">
              <a:buNone/>
              <a:defRPr sz="3968" b="1"/>
            </a:lvl3pPr>
            <a:lvl4pPr marL="3023829" indent="0">
              <a:buNone/>
              <a:defRPr sz="3527" b="1"/>
            </a:lvl4pPr>
            <a:lvl5pPr marL="4031772" indent="0">
              <a:buNone/>
              <a:defRPr sz="3527" b="1"/>
            </a:lvl5pPr>
            <a:lvl6pPr marL="5039716" indent="0">
              <a:buNone/>
              <a:defRPr sz="3527" b="1"/>
            </a:lvl6pPr>
            <a:lvl7pPr marL="6047659" indent="0">
              <a:buNone/>
              <a:defRPr sz="3527" b="1"/>
            </a:lvl7pPr>
            <a:lvl8pPr marL="7055602" indent="0">
              <a:buNone/>
              <a:defRPr sz="3527" b="1"/>
            </a:lvl8pPr>
            <a:lvl9pPr marL="8063545" indent="0">
              <a:buNone/>
              <a:defRPr sz="35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5522763"/>
            <a:ext cx="9046274" cy="8123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3706342"/>
            <a:ext cx="9090826" cy="1816421"/>
          </a:xfrm>
        </p:spPr>
        <p:txBody>
          <a:bodyPr anchor="b"/>
          <a:lstStyle>
            <a:lvl1pPr marL="0" indent="0">
              <a:buNone/>
              <a:defRPr sz="5291" b="1"/>
            </a:lvl1pPr>
            <a:lvl2pPr marL="1007943" indent="0">
              <a:buNone/>
              <a:defRPr sz="4409" b="1"/>
            </a:lvl2pPr>
            <a:lvl3pPr marL="2015886" indent="0">
              <a:buNone/>
              <a:defRPr sz="3968" b="1"/>
            </a:lvl3pPr>
            <a:lvl4pPr marL="3023829" indent="0">
              <a:buNone/>
              <a:defRPr sz="3527" b="1"/>
            </a:lvl4pPr>
            <a:lvl5pPr marL="4031772" indent="0">
              <a:buNone/>
              <a:defRPr sz="3527" b="1"/>
            </a:lvl5pPr>
            <a:lvl6pPr marL="5039716" indent="0">
              <a:buNone/>
              <a:defRPr sz="3527" b="1"/>
            </a:lvl6pPr>
            <a:lvl7pPr marL="6047659" indent="0">
              <a:buNone/>
              <a:defRPr sz="3527" b="1"/>
            </a:lvl7pPr>
            <a:lvl8pPr marL="7055602" indent="0">
              <a:buNone/>
              <a:defRPr sz="3527" b="1"/>
            </a:lvl8pPr>
            <a:lvl9pPr marL="8063545" indent="0">
              <a:buNone/>
              <a:defRPr sz="35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5522763"/>
            <a:ext cx="9090826" cy="8123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AEA-3544-4968-B0F1-80BB67ABD009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912C-B7EE-4B8A-8172-D74B2D9B1D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7984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AEA-3544-4968-B0F1-80BB67ABD009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912C-B7EE-4B8A-8172-D74B2D9B1D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156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AEA-3544-4968-B0F1-80BB67ABD009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912C-B7EE-4B8A-8172-D74B2D9B1D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766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007957"/>
            <a:ext cx="6896776" cy="3527848"/>
          </a:xfrm>
        </p:spPr>
        <p:txBody>
          <a:bodyPr anchor="b"/>
          <a:lstStyle>
            <a:lvl1pPr>
              <a:defRPr sz="70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2176910"/>
            <a:ext cx="10825460" cy="10744538"/>
          </a:xfrm>
        </p:spPr>
        <p:txBody>
          <a:bodyPr/>
          <a:lstStyle>
            <a:lvl1pPr>
              <a:defRPr sz="7055"/>
            </a:lvl1pPr>
            <a:lvl2pPr>
              <a:defRPr sz="6173"/>
            </a:lvl2pPr>
            <a:lvl3pPr>
              <a:defRPr sz="5291"/>
            </a:lvl3pPr>
            <a:lvl4pPr>
              <a:defRPr sz="4409"/>
            </a:lvl4pPr>
            <a:lvl5pPr>
              <a:defRPr sz="4409"/>
            </a:lvl5pPr>
            <a:lvl6pPr>
              <a:defRPr sz="4409"/>
            </a:lvl6pPr>
            <a:lvl7pPr>
              <a:defRPr sz="4409"/>
            </a:lvl7pPr>
            <a:lvl8pPr>
              <a:defRPr sz="4409"/>
            </a:lvl8pPr>
            <a:lvl9pPr>
              <a:defRPr sz="44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4535805"/>
            <a:ext cx="6896776" cy="8403140"/>
          </a:xfrm>
        </p:spPr>
        <p:txBody>
          <a:bodyPr/>
          <a:lstStyle>
            <a:lvl1pPr marL="0" indent="0">
              <a:buNone/>
              <a:defRPr sz="3527"/>
            </a:lvl1pPr>
            <a:lvl2pPr marL="1007943" indent="0">
              <a:buNone/>
              <a:defRPr sz="3086"/>
            </a:lvl2pPr>
            <a:lvl3pPr marL="2015886" indent="0">
              <a:buNone/>
              <a:defRPr sz="2646"/>
            </a:lvl3pPr>
            <a:lvl4pPr marL="3023829" indent="0">
              <a:buNone/>
              <a:defRPr sz="2205"/>
            </a:lvl4pPr>
            <a:lvl5pPr marL="4031772" indent="0">
              <a:buNone/>
              <a:defRPr sz="2205"/>
            </a:lvl5pPr>
            <a:lvl6pPr marL="5039716" indent="0">
              <a:buNone/>
              <a:defRPr sz="2205"/>
            </a:lvl6pPr>
            <a:lvl7pPr marL="6047659" indent="0">
              <a:buNone/>
              <a:defRPr sz="2205"/>
            </a:lvl7pPr>
            <a:lvl8pPr marL="7055602" indent="0">
              <a:buNone/>
              <a:defRPr sz="2205"/>
            </a:lvl8pPr>
            <a:lvl9pPr marL="8063545" indent="0">
              <a:buNone/>
              <a:defRPr sz="220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AEA-3544-4968-B0F1-80BB67ABD009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912C-B7EE-4B8A-8172-D74B2D9B1D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1651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007957"/>
            <a:ext cx="6896776" cy="3527848"/>
          </a:xfrm>
        </p:spPr>
        <p:txBody>
          <a:bodyPr anchor="b"/>
          <a:lstStyle>
            <a:lvl1pPr>
              <a:defRPr sz="70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2176910"/>
            <a:ext cx="10825460" cy="10744538"/>
          </a:xfrm>
        </p:spPr>
        <p:txBody>
          <a:bodyPr anchor="t"/>
          <a:lstStyle>
            <a:lvl1pPr marL="0" indent="0">
              <a:buNone/>
              <a:defRPr sz="7055"/>
            </a:lvl1pPr>
            <a:lvl2pPr marL="1007943" indent="0">
              <a:buNone/>
              <a:defRPr sz="6173"/>
            </a:lvl2pPr>
            <a:lvl3pPr marL="2015886" indent="0">
              <a:buNone/>
              <a:defRPr sz="5291"/>
            </a:lvl3pPr>
            <a:lvl4pPr marL="3023829" indent="0">
              <a:buNone/>
              <a:defRPr sz="4409"/>
            </a:lvl4pPr>
            <a:lvl5pPr marL="4031772" indent="0">
              <a:buNone/>
              <a:defRPr sz="4409"/>
            </a:lvl5pPr>
            <a:lvl6pPr marL="5039716" indent="0">
              <a:buNone/>
              <a:defRPr sz="4409"/>
            </a:lvl6pPr>
            <a:lvl7pPr marL="6047659" indent="0">
              <a:buNone/>
              <a:defRPr sz="4409"/>
            </a:lvl7pPr>
            <a:lvl8pPr marL="7055602" indent="0">
              <a:buNone/>
              <a:defRPr sz="4409"/>
            </a:lvl8pPr>
            <a:lvl9pPr marL="8063545" indent="0">
              <a:buNone/>
              <a:defRPr sz="440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4535805"/>
            <a:ext cx="6896776" cy="8403140"/>
          </a:xfrm>
        </p:spPr>
        <p:txBody>
          <a:bodyPr/>
          <a:lstStyle>
            <a:lvl1pPr marL="0" indent="0">
              <a:buNone/>
              <a:defRPr sz="3527"/>
            </a:lvl1pPr>
            <a:lvl2pPr marL="1007943" indent="0">
              <a:buNone/>
              <a:defRPr sz="3086"/>
            </a:lvl2pPr>
            <a:lvl3pPr marL="2015886" indent="0">
              <a:buNone/>
              <a:defRPr sz="2646"/>
            </a:lvl3pPr>
            <a:lvl4pPr marL="3023829" indent="0">
              <a:buNone/>
              <a:defRPr sz="2205"/>
            </a:lvl4pPr>
            <a:lvl5pPr marL="4031772" indent="0">
              <a:buNone/>
              <a:defRPr sz="2205"/>
            </a:lvl5pPr>
            <a:lvl6pPr marL="5039716" indent="0">
              <a:buNone/>
              <a:defRPr sz="2205"/>
            </a:lvl6pPr>
            <a:lvl7pPr marL="6047659" indent="0">
              <a:buNone/>
              <a:defRPr sz="2205"/>
            </a:lvl7pPr>
            <a:lvl8pPr marL="7055602" indent="0">
              <a:buNone/>
              <a:defRPr sz="2205"/>
            </a:lvl8pPr>
            <a:lvl9pPr marL="8063545" indent="0">
              <a:buNone/>
              <a:defRPr sz="220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AEA-3544-4968-B0F1-80BB67ABD009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912C-B7EE-4B8A-8172-D74B2D9B1D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6912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AEA-3544-4968-B0F1-80BB67ABD009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912C-B7EE-4B8A-8172-D74B2D9B1D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6713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804966"/>
            <a:ext cx="4610844" cy="128129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804966"/>
            <a:ext cx="13565237" cy="128129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AEA-3544-4968-B0F1-80BB67ABD009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D912C-B7EE-4B8A-8172-D74B2D9B1D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900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804969"/>
            <a:ext cx="18443377" cy="2922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4024827"/>
            <a:ext cx="18443377" cy="9593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14013401"/>
            <a:ext cx="4811316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6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C60AEA-3544-4968-B0F1-80BB67ABD009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14013401"/>
            <a:ext cx="7216973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6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14013401"/>
            <a:ext cx="4811316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6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D912C-B7EE-4B8A-8172-D74B2D9B1D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481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015886" rtl="0" eaLnBrk="1" latinLnBrk="0" hangingPunct="1">
        <a:lnSpc>
          <a:spcPct val="90000"/>
        </a:lnSpc>
        <a:spcBef>
          <a:spcPct val="0"/>
        </a:spcBef>
        <a:buNone/>
        <a:defRPr sz="9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03972" indent="-503972" algn="l" defTabSz="2015886" rtl="0" eaLnBrk="1" latinLnBrk="0" hangingPunct="1">
        <a:lnSpc>
          <a:spcPct val="90000"/>
        </a:lnSpc>
        <a:spcBef>
          <a:spcPts val="2205"/>
        </a:spcBef>
        <a:buFont typeface="Arial" panose="020B0604020202020204" pitchFamily="34" charset="0"/>
        <a:buChar char="•"/>
        <a:defRPr sz="6173" kern="1200">
          <a:solidFill>
            <a:schemeClr val="tx1"/>
          </a:solidFill>
          <a:latin typeface="+mn-lt"/>
          <a:ea typeface="+mn-ea"/>
          <a:cs typeface="+mn-cs"/>
        </a:defRPr>
      </a:lvl1pPr>
      <a:lvl2pPr marL="1511915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5291" kern="1200">
          <a:solidFill>
            <a:schemeClr val="tx1"/>
          </a:solidFill>
          <a:latin typeface="+mn-lt"/>
          <a:ea typeface="+mn-ea"/>
          <a:cs typeface="+mn-cs"/>
        </a:defRPr>
      </a:lvl2pPr>
      <a:lvl3pPr marL="2519858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3pPr>
      <a:lvl4pPr marL="3527801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4pPr>
      <a:lvl5pPr marL="4535744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5pPr>
      <a:lvl6pPr marL="5543687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6pPr>
      <a:lvl7pPr marL="6551630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7pPr>
      <a:lvl8pPr marL="7559573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8pPr>
      <a:lvl9pPr marL="8567517" indent="-503972" algn="l" defTabSz="2015886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1pPr>
      <a:lvl2pPr marL="1007943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2015886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3pPr>
      <a:lvl4pPr marL="3023829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4pPr>
      <a:lvl5pPr marL="4031772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5pPr>
      <a:lvl6pPr marL="5039716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6pPr>
      <a:lvl7pPr marL="6047659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7pPr>
      <a:lvl8pPr marL="7055602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8pPr>
      <a:lvl9pPr marL="8063545" algn="l" defTabSz="2015886" rtl="0" eaLnBrk="1" latinLnBrk="0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A7B36-E2F3-E6E2-B982-7F8897119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CEAB6D4-ACF6-7850-4481-2886FFB767A9}"/>
              </a:ext>
            </a:extLst>
          </p:cNvPr>
          <p:cNvSpPr txBox="1"/>
          <p:nvPr/>
        </p:nvSpPr>
        <p:spPr>
          <a:xfrm>
            <a:off x="1076570" y="693727"/>
            <a:ext cx="9469515" cy="238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47" b="1" spc="319" baseline="0" dirty="0">
                <a:ln/>
                <a:solidFill>
                  <a:srgbClr val="14706E"/>
                </a:solidFill>
                <a:latin typeface="Arial"/>
                <a:cs typeface="Arial"/>
                <a:sym typeface="Arial"/>
                <a:rtl val="0"/>
              </a:rPr>
              <a:t>PROMPT ENGINEERING FOR SOCIAL SCIENCE | AUDIT &amp; PROVENANCE BY DESIGN | TDA23\230021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75AF45-A154-702E-A7CB-FF7114AED0C3}"/>
              </a:ext>
            </a:extLst>
          </p:cNvPr>
          <p:cNvSpPr txBox="1"/>
          <p:nvPr/>
        </p:nvSpPr>
        <p:spPr>
          <a:xfrm>
            <a:off x="1076570" y="935243"/>
            <a:ext cx="4590022" cy="4309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795" b="1" spc="0" baseline="0">
                <a:ln/>
                <a:solidFill>
                  <a:srgbClr val="111418"/>
                </a:solidFill>
                <a:latin typeface="Arial"/>
                <a:cs typeface="Arial"/>
                <a:sym typeface="Arial"/>
                <a:rtl val="0"/>
              </a:rPr>
              <a:t>Anatomy of a research prompt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D5D51F-9F2D-5AAB-7C6F-35F9F9329902}"/>
              </a:ext>
            </a:extLst>
          </p:cNvPr>
          <p:cNvSpPr txBox="1"/>
          <p:nvPr/>
        </p:nvSpPr>
        <p:spPr>
          <a:xfrm>
            <a:off x="1076570" y="1321458"/>
            <a:ext cx="7337265" cy="2350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27" spc="0" baseline="0" dirty="0">
                <a:ln/>
                <a:solidFill>
                  <a:srgbClr val="3A444C"/>
                </a:solidFill>
                <a:latin typeface="Arial"/>
                <a:cs typeface="Arial"/>
                <a:sym typeface="Arial"/>
                <a:rtl val="0"/>
              </a:rPr>
              <a:t>A prompt is the full set of instructions you give an LLM. Like a brief you would hand a</a:t>
            </a:r>
            <a:r>
              <a:rPr lang="en-GB" sz="927" dirty="0">
                <a:ln/>
                <a:solidFill>
                  <a:srgbClr val="3A444C"/>
                </a:solidFill>
                <a:latin typeface="Arial"/>
                <a:cs typeface="Arial"/>
                <a:sym typeface="Arial"/>
                <a:rtl val="0"/>
              </a:rPr>
              <a:t>n </a:t>
            </a:r>
            <a:r>
              <a:rPr lang="en-GB" sz="927" spc="0" baseline="0" dirty="0">
                <a:ln/>
                <a:solidFill>
                  <a:srgbClr val="3A444C"/>
                </a:solidFill>
                <a:latin typeface="Arial"/>
                <a:cs typeface="Arial"/>
                <a:sym typeface="Arial"/>
                <a:rtl val="0"/>
              </a:rPr>
              <a:t>assistant; its wording decides what comes back.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44D5F9-8E80-D7A0-722B-0174035F5FE7}"/>
              </a:ext>
            </a:extLst>
          </p:cNvPr>
          <p:cNvSpPr txBox="1"/>
          <p:nvPr/>
        </p:nvSpPr>
        <p:spPr>
          <a:xfrm>
            <a:off x="1076570" y="1507172"/>
            <a:ext cx="11222718" cy="2668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27" spc="0" baseline="0" dirty="0">
                <a:ln/>
                <a:solidFill>
                  <a:srgbClr val="3A444C"/>
                </a:solidFill>
                <a:latin typeface="Arial"/>
                <a:cs typeface="Arial"/>
                <a:sym typeface="Arial"/>
                <a:rtl val="0"/>
              </a:rPr>
              <a:t>Below is one real prompt for pulling claims out of research papers, taken apart piece by piece. The two highlighted panels show why its outputs can be audited.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38CA0D0-9085-0722-F9CA-59ECCC17530B}"/>
              </a:ext>
            </a:extLst>
          </p:cNvPr>
          <p:cNvSpPr/>
          <p:nvPr/>
        </p:nvSpPr>
        <p:spPr>
          <a:xfrm>
            <a:off x="6266260" y="1762564"/>
            <a:ext cx="6858203" cy="12155824"/>
          </a:xfrm>
          <a:prstGeom prst="roundRect">
            <a:avLst>
              <a:gd name="adj" fmla="val 1296"/>
            </a:avLst>
          </a:prstGeom>
          <a:solidFill>
            <a:srgbClr val="FFFFFF"/>
          </a:solidFill>
          <a:ln w="16881" cap="flat">
            <a:solidFill>
              <a:srgbClr val="D8DCDF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8111570-C180-1F87-F404-52112D7A3AE6}"/>
              </a:ext>
            </a:extLst>
          </p:cNvPr>
          <p:cNvGrpSpPr/>
          <p:nvPr/>
        </p:nvGrpSpPr>
        <p:grpSpPr>
          <a:xfrm>
            <a:off x="6316905" y="1846980"/>
            <a:ext cx="50644" cy="12003875"/>
            <a:chOff x="6316905" y="1846980"/>
            <a:chExt cx="50644" cy="1200387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514EA91-272C-8BE4-15ED-68B1A90CC342}"/>
                </a:ext>
              </a:extLst>
            </p:cNvPr>
            <p:cNvSpPr/>
            <p:nvPr/>
          </p:nvSpPr>
          <p:spPr>
            <a:xfrm>
              <a:off x="6316905" y="1846980"/>
              <a:ext cx="50644" cy="675323"/>
            </a:xfrm>
            <a:prstGeom prst="roundRect">
              <a:avLst>
                <a:gd name="adj" fmla="val 50000"/>
              </a:avLst>
            </a:prstGeom>
            <a:solidFill>
              <a:srgbClr val="14706E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BA8FF40-0055-E9A8-B945-30623F3C91E6}"/>
                </a:ext>
              </a:extLst>
            </p:cNvPr>
            <p:cNvSpPr/>
            <p:nvPr/>
          </p:nvSpPr>
          <p:spPr>
            <a:xfrm>
              <a:off x="6316905" y="2606719"/>
              <a:ext cx="50644" cy="455843"/>
            </a:xfrm>
            <a:prstGeom prst="roundRect">
              <a:avLst>
                <a:gd name="adj" fmla="val 50000"/>
              </a:avLst>
            </a:prstGeom>
            <a:solidFill>
              <a:srgbClr val="3B4E9B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42E1003-DF57-ECD5-CE9A-2476FD5AE8C5}"/>
                </a:ext>
              </a:extLst>
            </p:cNvPr>
            <p:cNvSpPr/>
            <p:nvPr/>
          </p:nvSpPr>
          <p:spPr>
            <a:xfrm>
              <a:off x="6316905" y="3146977"/>
              <a:ext cx="50644" cy="877920"/>
            </a:xfrm>
            <a:prstGeom prst="roundRect">
              <a:avLst>
                <a:gd name="adj" fmla="val 50000"/>
              </a:avLst>
            </a:prstGeom>
            <a:solidFill>
              <a:srgbClr val="B8761A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B9CA0F5-6319-A1A7-3F42-04FF927A90FA}"/>
                </a:ext>
              </a:extLst>
            </p:cNvPr>
            <p:cNvSpPr/>
            <p:nvPr/>
          </p:nvSpPr>
          <p:spPr>
            <a:xfrm>
              <a:off x="6316905" y="4109313"/>
              <a:ext cx="50644" cy="1435062"/>
            </a:xfrm>
            <a:prstGeom prst="roundRect">
              <a:avLst>
                <a:gd name="adj" fmla="val 50000"/>
              </a:avLst>
            </a:prstGeom>
            <a:solidFill>
              <a:srgbClr val="9C2C57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22497F46-90D5-E11C-C5B7-F9530D80BF5A}"/>
                </a:ext>
              </a:extLst>
            </p:cNvPr>
            <p:cNvSpPr/>
            <p:nvPr/>
          </p:nvSpPr>
          <p:spPr>
            <a:xfrm>
              <a:off x="6316905" y="5628791"/>
              <a:ext cx="50644" cy="776622"/>
            </a:xfrm>
            <a:prstGeom prst="roundRect">
              <a:avLst>
                <a:gd name="adj" fmla="val 50000"/>
              </a:avLst>
            </a:prstGeom>
            <a:solidFill>
              <a:srgbClr val="2E7D55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9DC64447-83E6-F762-5EDA-280B0A2EDDAB}"/>
                </a:ext>
              </a:extLst>
            </p:cNvPr>
            <p:cNvSpPr/>
            <p:nvPr/>
          </p:nvSpPr>
          <p:spPr>
            <a:xfrm>
              <a:off x="6316905" y="6489829"/>
              <a:ext cx="50644" cy="557141"/>
            </a:xfrm>
            <a:prstGeom prst="roundRect">
              <a:avLst>
                <a:gd name="adj" fmla="val 50000"/>
              </a:avLst>
            </a:prstGeom>
            <a:solidFill>
              <a:srgbClr val="1F6E8C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74DD029-C6B1-989A-FCA3-FC617F489083}"/>
                </a:ext>
              </a:extLst>
            </p:cNvPr>
            <p:cNvSpPr/>
            <p:nvPr/>
          </p:nvSpPr>
          <p:spPr>
            <a:xfrm>
              <a:off x="6316905" y="7148270"/>
              <a:ext cx="50644" cy="1097400"/>
            </a:xfrm>
            <a:prstGeom prst="roundRect">
              <a:avLst>
                <a:gd name="adj" fmla="val 50000"/>
              </a:avLst>
            </a:prstGeom>
            <a:solidFill>
              <a:srgbClr val="B8761A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7C710B6-95F5-139A-CE09-55C4A82C6D22}"/>
                </a:ext>
              </a:extLst>
            </p:cNvPr>
            <p:cNvSpPr/>
            <p:nvPr/>
          </p:nvSpPr>
          <p:spPr>
            <a:xfrm>
              <a:off x="6316905" y="8330086"/>
              <a:ext cx="50644" cy="135064"/>
            </a:xfrm>
            <a:prstGeom prst="roundRect">
              <a:avLst>
                <a:gd name="adj" fmla="val 50000"/>
              </a:avLst>
            </a:prstGeom>
            <a:solidFill>
              <a:srgbClr val="A23E2A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9E90611F-F840-25AA-A0BD-AB58E8A9E0AA}"/>
                </a:ext>
              </a:extLst>
            </p:cNvPr>
            <p:cNvSpPr/>
            <p:nvPr/>
          </p:nvSpPr>
          <p:spPr>
            <a:xfrm>
              <a:off x="6316905" y="8549566"/>
              <a:ext cx="50644" cy="3663630"/>
            </a:xfrm>
            <a:prstGeom prst="roundRect">
              <a:avLst>
                <a:gd name="adj" fmla="val 50000"/>
              </a:avLst>
            </a:prstGeom>
            <a:solidFill>
              <a:srgbClr val="6A4A9C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CC003EEB-8542-1F61-4ACB-40902265A3FC}"/>
                </a:ext>
              </a:extLst>
            </p:cNvPr>
            <p:cNvSpPr/>
            <p:nvPr/>
          </p:nvSpPr>
          <p:spPr>
            <a:xfrm>
              <a:off x="6316905" y="12331378"/>
              <a:ext cx="50644" cy="861037"/>
            </a:xfrm>
            <a:prstGeom prst="roundRect">
              <a:avLst>
                <a:gd name="adj" fmla="val 50000"/>
              </a:avLst>
            </a:prstGeom>
            <a:solidFill>
              <a:srgbClr val="B8761A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DC2588FA-27AB-5313-E37D-8E5D05BB4FB5}"/>
                </a:ext>
              </a:extLst>
            </p:cNvPr>
            <p:cNvSpPr/>
            <p:nvPr/>
          </p:nvSpPr>
          <p:spPr>
            <a:xfrm>
              <a:off x="6316905" y="13293714"/>
              <a:ext cx="50644" cy="557141"/>
            </a:xfrm>
            <a:prstGeom prst="roundRect">
              <a:avLst>
                <a:gd name="adj" fmla="val 50000"/>
              </a:avLst>
            </a:prstGeom>
            <a:solidFill>
              <a:srgbClr val="4A5A66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3" name="Graphic 3">
            <a:extLst>
              <a:ext uri="{FF2B5EF4-FFF2-40B4-BE49-F238E27FC236}">
                <a16:creationId xmlns:a16="http://schemas.microsoft.com/office/drawing/2014/main" id="{4C3714FF-904F-ADD2-A397-92E8CC1708E5}"/>
              </a:ext>
            </a:extLst>
          </p:cNvPr>
          <p:cNvGrpSpPr/>
          <p:nvPr/>
        </p:nvGrpSpPr>
        <p:grpSpPr>
          <a:xfrm>
            <a:off x="5979273" y="1931395"/>
            <a:ext cx="9656288" cy="11446734"/>
            <a:chOff x="5979273" y="1931395"/>
            <a:chExt cx="9656288" cy="11446734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ABFAD4B-942E-BD55-1C63-97A3BEB94BD5}"/>
                </a:ext>
              </a:extLst>
            </p:cNvPr>
            <p:cNvSpPr/>
            <p:nvPr/>
          </p:nvSpPr>
          <p:spPr>
            <a:xfrm>
              <a:off x="5979273" y="1931395"/>
              <a:ext cx="422040" cy="16883"/>
            </a:xfrm>
            <a:custGeom>
              <a:avLst/>
              <a:gdLst>
                <a:gd name="csX0" fmla="*/ 0 w 422040"/>
                <a:gd name="csY0" fmla="*/ 0 h 16883"/>
                <a:gd name="csX1" fmla="*/ 422041 w 422040"/>
                <a:gd name="csY1" fmla="*/ 0 h 16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2040" h="16883">
                  <a:moveTo>
                    <a:pt x="0" y="0"/>
                  </a:moveTo>
                  <a:lnTo>
                    <a:pt x="422041" y="0"/>
                  </a:lnTo>
                </a:path>
              </a:pathLst>
            </a:custGeom>
            <a:ln w="16881" cap="flat">
              <a:solidFill>
                <a:srgbClr val="C3C9CE"/>
              </a:solidFill>
              <a:custDash>
                <a:ds d="150000" sp="150000"/>
              </a:custDash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9811900-D403-F0B4-89B6-2EA5BFD7F759}"/>
                </a:ext>
              </a:extLst>
            </p:cNvPr>
            <p:cNvSpPr/>
            <p:nvPr/>
          </p:nvSpPr>
          <p:spPr>
            <a:xfrm>
              <a:off x="15247284" y="2691134"/>
              <a:ext cx="388277" cy="16883"/>
            </a:xfrm>
            <a:custGeom>
              <a:avLst/>
              <a:gdLst>
                <a:gd name="csX0" fmla="*/ 388277 w 388277"/>
                <a:gd name="csY0" fmla="*/ 0 h 16883"/>
                <a:gd name="csX1" fmla="*/ 0 w 388277"/>
                <a:gd name="csY1" fmla="*/ 0 h 16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88277" h="16883">
                  <a:moveTo>
                    <a:pt x="388277" y="0"/>
                  </a:moveTo>
                  <a:lnTo>
                    <a:pt x="0" y="0"/>
                  </a:lnTo>
                </a:path>
              </a:pathLst>
            </a:custGeom>
            <a:ln w="16881" cap="flat">
              <a:solidFill>
                <a:srgbClr val="C3C9CE"/>
              </a:solidFill>
              <a:custDash>
                <a:ds d="150000" sp="150000"/>
              </a:custDash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B75311D-A86A-5584-3E70-26942200E88C}"/>
                </a:ext>
              </a:extLst>
            </p:cNvPr>
            <p:cNvSpPr/>
            <p:nvPr/>
          </p:nvSpPr>
          <p:spPr>
            <a:xfrm>
              <a:off x="5979273" y="3231393"/>
              <a:ext cx="422040" cy="16883"/>
            </a:xfrm>
            <a:custGeom>
              <a:avLst/>
              <a:gdLst>
                <a:gd name="csX0" fmla="*/ 0 w 422040"/>
                <a:gd name="csY0" fmla="*/ 0 h 16883"/>
                <a:gd name="csX1" fmla="*/ 422041 w 422040"/>
                <a:gd name="csY1" fmla="*/ 0 h 16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2040" h="16883">
                  <a:moveTo>
                    <a:pt x="0" y="0"/>
                  </a:moveTo>
                  <a:lnTo>
                    <a:pt x="422041" y="0"/>
                  </a:lnTo>
                </a:path>
              </a:pathLst>
            </a:custGeom>
            <a:ln w="16881" cap="flat">
              <a:solidFill>
                <a:srgbClr val="C3C9CE"/>
              </a:solidFill>
              <a:custDash>
                <a:ds d="150000" sp="150000"/>
              </a:custDash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8E1B43B-3FED-982D-A531-CF4B47644C17}"/>
                </a:ext>
              </a:extLst>
            </p:cNvPr>
            <p:cNvSpPr/>
            <p:nvPr/>
          </p:nvSpPr>
          <p:spPr>
            <a:xfrm>
              <a:off x="15247284" y="4193729"/>
              <a:ext cx="388277" cy="16883"/>
            </a:xfrm>
            <a:custGeom>
              <a:avLst/>
              <a:gdLst>
                <a:gd name="csX0" fmla="*/ 388277 w 388277"/>
                <a:gd name="csY0" fmla="*/ 0 h 16883"/>
                <a:gd name="csX1" fmla="*/ 0 w 388277"/>
                <a:gd name="csY1" fmla="*/ 0 h 16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88277" h="16883">
                  <a:moveTo>
                    <a:pt x="388277" y="0"/>
                  </a:moveTo>
                  <a:lnTo>
                    <a:pt x="0" y="0"/>
                  </a:lnTo>
                </a:path>
              </a:pathLst>
            </a:custGeom>
            <a:ln w="16881" cap="flat">
              <a:solidFill>
                <a:srgbClr val="C3C9CE"/>
              </a:solidFill>
              <a:custDash>
                <a:ds d="150000" sp="150000"/>
              </a:custDash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9A54063-3856-040A-526A-455FA48CA06D}"/>
                </a:ext>
              </a:extLst>
            </p:cNvPr>
            <p:cNvSpPr/>
            <p:nvPr/>
          </p:nvSpPr>
          <p:spPr>
            <a:xfrm>
              <a:off x="5979273" y="5713207"/>
              <a:ext cx="422040" cy="16883"/>
            </a:xfrm>
            <a:custGeom>
              <a:avLst/>
              <a:gdLst>
                <a:gd name="csX0" fmla="*/ 0 w 422040"/>
                <a:gd name="csY0" fmla="*/ 0 h 16883"/>
                <a:gd name="csX1" fmla="*/ 422041 w 422040"/>
                <a:gd name="csY1" fmla="*/ 0 h 16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2040" h="16883">
                  <a:moveTo>
                    <a:pt x="0" y="0"/>
                  </a:moveTo>
                  <a:lnTo>
                    <a:pt x="422041" y="0"/>
                  </a:lnTo>
                </a:path>
              </a:pathLst>
            </a:custGeom>
            <a:ln w="16881" cap="flat">
              <a:solidFill>
                <a:srgbClr val="C3C9CE"/>
              </a:solidFill>
              <a:custDash>
                <a:ds d="150000" sp="150000"/>
              </a:custDash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40320AF-3AAE-84F4-C04A-8F1BC49CE9B8}"/>
                </a:ext>
              </a:extLst>
            </p:cNvPr>
            <p:cNvSpPr/>
            <p:nvPr/>
          </p:nvSpPr>
          <p:spPr>
            <a:xfrm>
              <a:off x="15247284" y="6574244"/>
              <a:ext cx="388277" cy="16883"/>
            </a:xfrm>
            <a:custGeom>
              <a:avLst/>
              <a:gdLst>
                <a:gd name="csX0" fmla="*/ 388277 w 388277"/>
                <a:gd name="csY0" fmla="*/ 0 h 16883"/>
                <a:gd name="csX1" fmla="*/ 0 w 388277"/>
                <a:gd name="csY1" fmla="*/ 0 h 16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88277" h="16883">
                  <a:moveTo>
                    <a:pt x="388277" y="0"/>
                  </a:moveTo>
                  <a:lnTo>
                    <a:pt x="0" y="0"/>
                  </a:lnTo>
                </a:path>
              </a:pathLst>
            </a:custGeom>
            <a:ln w="16881" cap="flat">
              <a:solidFill>
                <a:srgbClr val="C3C9CE"/>
              </a:solidFill>
              <a:custDash>
                <a:ds d="150000" sp="150000"/>
              </a:custDash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4A4A61A-ECC3-784D-AF2C-8C4AF65E8EC9}"/>
                </a:ext>
              </a:extLst>
            </p:cNvPr>
            <p:cNvSpPr/>
            <p:nvPr/>
          </p:nvSpPr>
          <p:spPr>
            <a:xfrm>
              <a:off x="5979273" y="8414501"/>
              <a:ext cx="422040" cy="16883"/>
            </a:xfrm>
            <a:custGeom>
              <a:avLst/>
              <a:gdLst>
                <a:gd name="csX0" fmla="*/ 0 w 422040"/>
                <a:gd name="csY0" fmla="*/ 0 h 16883"/>
                <a:gd name="csX1" fmla="*/ 422041 w 422040"/>
                <a:gd name="csY1" fmla="*/ 0 h 16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2040" h="16883">
                  <a:moveTo>
                    <a:pt x="0" y="0"/>
                  </a:moveTo>
                  <a:lnTo>
                    <a:pt x="422041" y="0"/>
                  </a:lnTo>
                </a:path>
              </a:pathLst>
            </a:custGeom>
            <a:ln w="16881" cap="flat">
              <a:solidFill>
                <a:srgbClr val="C3C9CE"/>
              </a:solidFill>
              <a:custDash>
                <a:ds d="150000" sp="150000"/>
              </a:custDash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1F0BED6-B4E8-1226-2A74-68CC0D2D5916}"/>
                </a:ext>
              </a:extLst>
            </p:cNvPr>
            <p:cNvSpPr/>
            <p:nvPr/>
          </p:nvSpPr>
          <p:spPr>
            <a:xfrm>
              <a:off x="15247284" y="8633981"/>
              <a:ext cx="388277" cy="16883"/>
            </a:xfrm>
            <a:custGeom>
              <a:avLst/>
              <a:gdLst>
                <a:gd name="csX0" fmla="*/ 388277 w 388277"/>
                <a:gd name="csY0" fmla="*/ 0 h 16883"/>
                <a:gd name="csX1" fmla="*/ 0 w 388277"/>
                <a:gd name="csY1" fmla="*/ 0 h 16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88277" h="16883">
                  <a:moveTo>
                    <a:pt x="388277" y="0"/>
                  </a:moveTo>
                  <a:lnTo>
                    <a:pt x="0" y="0"/>
                  </a:lnTo>
                </a:path>
              </a:pathLst>
            </a:custGeom>
            <a:ln w="16881" cap="flat">
              <a:solidFill>
                <a:srgbClr val="C3C9CE"/>
              </a:solidFill>
              <a:custDash>
                <a:ds d="150000" sp="150000"/>
              </a:custDash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F73DA9D-EB74-2568-992F-76FD1CA6FDEB}"/>
                </a:ext>
              </a:extLst>
            </p:cNvPr>
            <p:cNvSpPr/>
            <p:nvPr/>
          </p:nvSpPr>
          <p:spPr>
            <a:xfrm>
              <a:off x="5979273" y="13276831"/>
              <a:ext cx="422040" cy="101298"/>
            </a:xfrm>
            <a:custGeom>
              <a:avLst/>
              <a:gdLst>
                <a:gd name="csX0" fmla="*/ 0 w 422040"/>
                <a:gd name="csY0" fmla="*/ 0 h 101298"/>
                <a:gd name="csX1" fmla="*/ 422041 w 422040"/>
                <a:gd name="csY1" fmla="*/ 101299 h 101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2040" h="101298">
                  <a:moveTo>
                    <a:pt x="0" y="0"/>
                  </a:moveTo>
                  <a:lnTo>
                    <a:pt x="422041" y="101299"/>
                  </a:lnTo>
                </a:path>
              </a:pathLst>
            </a:custGeom>
            <a:ln w="16881" cap="flat">
              <a:solidFill>
                <a:srgbClr val="C3C9CE"/>
              </a:solidFill>
              <a:custDash>
                <a:ds d="150000" sp="150000"/>
              </a:custDash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70E4884-3196-FEA0-8609-9D4CEEC0B708}"/>
              </a:ext>
            </a:extLst>
          </p:cNvPr>
          <p:cNvSpPr txBox="1"/>
          <p:nvPr/>
        </p:nvSpPr>
        <p:spPr>
          <a:xfrm>
            <a:off x="6613742" y="1795594"/>
            <a:ext cx="4005043" cy="2060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578" spc="0" baseline="0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You are a social scientist specialising in study of social infertility.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B0E8A4-B43A-C911-693A-7D8E882EDBE4}"/>
              </a:ext>
            </a:extLst>
          </p:cNvPr>
          <p:cNvSpPr txBox="1"/>
          <p:nvPr/>
        </p:nvSpPr>
        <p:spPr>
          <a:xfrm>
            <a:off x="6613742" y="1903646"/>
            <a:ext cx="7504204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You are being provided the title and content of a research paper, which may be QUALITATIVE, argumentative, normative, or interpretive in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AAEF76-11CC-9E6C-6448-29EFD5AE6D7B}"/>
              </a:ext>
            </a:extLst>
          </p:cNvPr>
          <p:cNvSpPr txBox="1"/>
          <p:nvPr/>
        </p:nvSpPr>
        <p:spPr>
          <a:xfrm>
            <a:off x="6613742" y="2011698"/>
            <a:ext cx="6427536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nature (e.g. a bioethics commentary, an ethnography, or a critical review) rather than quantitative or experimental.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1917E5-D263-5B4E-8C63-39F58E4CFAA0}"/>
              </a:ext>
            </a:extLst>
          </p:cNvPr>
          <p:cNvSpPr txBox="1"/>
          <p:nvPr/>
        </p:nvSpPr>
        <p:spPr>
          <a:xfrm>
            <a:off x="6613742" y="2119750"/>
            <a:ext cx="7611871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Your job is to extract all new original claims made in the paper and, for each claim, the evidence supporting it, AND to characterise each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3F1090-737F-584B-0EAA-BC89C9407745}"/>
              </a:ext>
            </a:extLst>
          </p:cNvPr>
          <p:cNvSpPr txBox="1"/>
          <p:nvPr/>
        </p:nvSpPr>
        <p:spPr>
          <a:xfrm>
            <a:off x="6613742" y="2227801"/>
            <a:ext cx="7288868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claim's form, relational structure (only where one genuinely exists), provenance, and disciplinary reach so it can feed a downstream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4B9B8D-A72E-1531-DEBE-BB1F3F735C20}"/>
              </a:ext>
            </a:extLst>
          </p:cNvPr>
          <p:cNvSpPr txBox="1"/>
          <p:nvPr/>
        </p:nvSpPr>
        <p:spPr>
          <a:xfrm>
            <a:off x="6613742" y="2335853"/>
            <a:ext cx="3628207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hypothesis-generation step WITHOUT distorting non-causal claims.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E4CFD0-AC17-934D-B568-72F7BE080261}"/>
              </a:ext>
            </a:extLst>
          </p:cNvPr>
          <p:cNvSpPr txBox="1"/>
          <p:nvPr/>
        </p:nvSpPr>
        <p:spPr>
          <a:xfrm>
            <a:off x="6613742" y="2443905"/>
            <a:ext cx="236713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EB56A0-2810-73E7-E0CB-52292FDE2364}"/>
              </a:ext>
            </a:extLst>
          </p:cNvPr>
          <p:cNvSpPr txBox="1"/>
          <p:nvPr/>
        </p:nvSpPr>
        <p:spPr>
          <a:xfrm>
            <a:off x="6613742" y="2551957"/>
            <a:ext cx="7665708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An original claim is a novel statement or finding presented in a paper that contributes new knowledge, perspective, or understanding to the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AD5D9A-26B0-73CF-3987-DB73DEA70E48}"/>
              </a:ext>
            </a:extLst>
          </p:cNvPr>
          <p:cNvSpPr txBox="1"/>
          <p:nvPr/>
        </p:nvSpPr>
        <p:spPr>
          <a:xfrm>
            <a:off x="6613742" y="2660009"/>
            <a:ext cx="7934867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field. It can contain authoritative language, using terms like "demonstrates," "reveals," or "suggests." Claims are conclusive and interpretive.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7B7566-0227-4189-9C8D-DF54F5726C51}"/>
              </a:ext>
            </a:extLst>
          </p:cNvPr>
          <p:cNvSpPr txBox="1"/>
          <p:nvPr/>
        </p:nvSpPr>
        <p:spPr>
          <a:xfrm>
            <a:off x="6613742" y="2768060"/>
            <a:ext cx="7665700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In qualitative work, claims are frequently normative ("medicine should not be co-opted as an agent of social change"), interpretive ("these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2BB511-00E6-9F97-4C48-095D1AA1A461}"/>
              </a:ext>
            </a:extLst>
          </p:cNvPr>
          <p:cNvSpPr txBox="1"/>
          <p:nvPr/>
        </p:nvSpPr>
        <p:spPr>
          <a:xfrm>
            <a:off x="6613742" y="2876112"/>
            <a:ext cx="7827200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technologies are not value neutral"), definitional, or REFUTATIONAL (they deny or contest a relationship). Treat all of these as valid claims.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18A5C0-1621-BAC7-0AFC-941348CB3EAC}"/>
              </a:ext>
            </a:extLst>
          </p:cNvPr>
          <p:cNvSpPr txBox="1"/>
          <p:nvPr/>
        </p:nvSpPr>
        <p:spPr>
          <a:xfrm>
            <a:off x="6613742" y="2984164"/>
            <a:ext cx="236713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CB595D-DC71-4E1A-27BC-2A13F3DCEB6C}"/>
              </a:ext>
            </a:extLst>
          </p:cNvPr>
          <p:cNvSpPr txBox="1"/>
          <p:nvPr/>
        </p:nvSpPr>
        <p:spPr>
          <a:xfrm>
            <a:off x="6613742" y="3092216"/>
            <a:ext cx="2766876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CLAIM-FORM TYPING (additive "claim_form" field):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3E11DE-A455-C4F8-D4AB-7EE80077B035}"/>
              </a:ext>
            </a:extLst>
          </p:cNvPr>
          <p:cNvSpPr txBox="1"/>
          <p:nvPr/>
        </p:nvSpPr>
        <p:spPr>
          <a:xfrm>
            <a:off x="6613742" y="3200268"/>
            <a:ext cx="2067043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Assign each claim exactly one form: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B53E08-B6F7-87DB-8E6F-ED94A2254845}"/>
              </a:ext>
            </a:extLst>
          </p:cNvPr>
          <p:cNvSpPr txBox="1"/>
          <p:nvPr/>
        </p:nvSpPr>
        <p:spPr>
          <a:xfrm>
            <a:off x="6613742" y="3308319"/>
            <a:ext cx="4866372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- causal_associative: asserts that one concept influences/affects/relates to another.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3EE1D1-C61C-669A-17E7-E39049D5C5AD}"/>
              </a:ext>
            </a:extLst>
          </p:cNvPr>
          <p:cNvSpPr txBox="1"/>
          <p:nvPr/>
        </p:nvSpPr>
        <p:spPr>
          <a:xfrm>
            <a:off x="6613742" y="3416371"/>
            <a:ext cx="6212204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- refutational: denies or contests a relationship or a proposed solution (e.g. "X is not going to address Y").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E9DE385-BF02-EB29-6803-78F50FE347CF}"/>
              </a:ext>
            </a:extLst>
          </p:cNvPr>
          <p:cNvSpPr txBox="1"/>
          <p:nvPr/>
        </p:nvSpPr>
        <p:spPr>
          <a:xfrm>
            <a:off x="6613742" y="3524423"/>
            <a:ext cx="5297038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- normative_evaluative: a value judgement or prescription ("should", "is not the best tool").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5F9F636-B693-F4EA-BB71-8781F1D940B2}"/>
              </a:ext>
            </a:extLst>
          </p:cNvPr>
          <p:cNvSpPr txBox="1"/>
          <p:nvPr/>
        </p:nvSpPr>
        <p:spPr>
          <a:xfrm>
            <a:off x="6613742" y="3632474"/>
            <a:ext cx="4489540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- interpretive: an interpretive reading of meaning, function, or significance.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6E3E2C1-D05A-C503-DF28-D056951BDE5B}"/>
              </a:ext>
            </a:extLst>
          </p:cNvPr>
          <p:cNvSpPr txBox="1"/>
          <p:nvPr/>
        </p:nvSpPr>
        <p:spPr>
          <a:xfrm>
            <a:off x="6613742" y="3740526"/>
            <a:ext cx="4328040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- definitional_conceptual: defines or reframes a concept as a contribution.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B61AE08-DAE3-815D-89CB-302B8EBE7BA2}"/>
              </a:ext>
            </a:extLst>
          </p:cNvPr>
          <p:cNvSpPr txBox="1"/>
          <p:nvPr/>
        </p:nvSpPr>
        <p:spPr>
          <a:xfrm>
            <a:off x="6613742" y="3848578"/>
            <a:ext cx="4651039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- conditional: holds only under stated conditions ("unlikely to ... unless ...").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34B5D7-B609-744B-47A2-AD7D436BE2AA}"/>
              </a:ext>
            </a:extLst>
          </p:cNvPr>
          <p:cNvSpPr txBox="1"/>
          <p:nvPr/>
        </p:nvSpPr>
        <p:spPr>
          <a:xfrm>
            <a:off x="6613742" y="3956630"/>
            <a:ext cx="236713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387641C-C46B-CCC4-16D6-C736123228A9}"/>
              </a:ext>
            </a:extLst>
          </p:cNvPr>
          <p:cNvSpPr txBox="1"/>
          <p:nvPr/>
        </p:nvSpPr>
        <p:spPr>
          <a:xfrm>
            <a:off x="6613742" y="4064682"/>
            <a:ext cx="4166540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RELATIONAL DECOMPOSITION IS CONDITIONAL (additive "relational_structure"):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4F26856-1CE9-2C03-99AF-6C4DF78B46D8}"/>
              </a:ext>
            </a:extLst>
          </p:cNvPr>
          <p:cNvSpPr txBox="1"/>
          <p:nvPr/>
        </p:nvSpPr>
        <p:spPr>
          <a:xfrm>
            <a:off x="6613742" y="4172733"/>
            <a:ext cx="7665703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Only populate "relational_structure" when the claim actually asserts or denies a relationship (claim_form causal_associative, refutational,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16F184C-6468-E6C3-E0BD-063F9E83ED95}"/>
              </a:ext>
            </a:extLst>
          </p:cNvPr>
          <p:cNvSpPr txBox="1"/>
          <p:nvPr/>
        </p:nvSpPr>
        <p:spPr>
          <a:xfrm>
            <a:off x="6613742" y="4280785"/>
            <a:ext cx="6858203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or conditional). For normative_evaluative, interpretive, or definitional_conceptual claims that contain no relationship, set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3596F77-9B58-95EC-E1E7-9FE2F8653B17}"/>
              </a:ext>
            </a:extLst>
          </p:cNvPr>
          <p:cNvSpPr txBox="1"/>
          <p:nvPr/>
        </p:nvSpPr>
        <p:spPr>
          <a:xfrm>
            <a:off x="6613742" y="4388837"/>
            <a:ext cx="7342702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"relational_structure" to null. DO NOT manufacture a subject-relation-object triple where none exists; a fabricated relationship is a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D0C355B-F16D-FD90-71F9-0D4126E1F751}"/>
              </a:ext>
            </a:extLst>
          </p:cNvPr>
          <p:cNvSpPr txBox="1"/>
          <p:nvPr/>
        </p:nvSpPr>
        <p:spPr>
          <a:xfrm>
            <a:off x="6613742" y="4496889"/>
            <a:ext cx="2228543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hallucination. When present, populate: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3DB55C7-40AE-C979-4AF5-49AB743ED022}"/>
              </a:ext>
            </a:extLst>
          </p:cNvPr>
          <p:cNvSpPr txBox="1"/>
          <p:nvPr/>
        </p:nvSpPr>
        <p:spPr>
          <a:xfrm>
            <a:off x="6613742" y="4604940"/>
            <a:ext cx="5135538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- subject_concept: the concept doing the influencing (verbatim noun phrase where possible)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D3CD0AA-F5AE-2FEF-8095-F0AFF908CB36}"/>
              </a:ext>
            </a:extLst>
          </p:cNvPr>
          <p:cNvSpPr txBox="1"/>
          <p:nvPr/>
        </p:nvSpPr>
        <p:spPr>
          <a:xfrm>
            <a:off x="6613742" y="4712992"/>
            <a:ext cx="3520542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- relation: the relationship asserted (verbatim verb/phrase)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1E33A58-0566-9B58-16CA-A4C93CF9FD46}"/>
              </a:ext>
            </a:extLst>
          </p:cNvPr>
          <p:cNvSpPr txBox="1"/>
          <p:nvPr/>
        </p:nvSpPr>
        <p:spPr>
          <a:xfrm>
            <a:off x="6613742" y="4821044"/>
            <a:ext cx="4381873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- object_concept: the concept affected (verbatim noun phrase where possible)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56160C5-DC2C-5800-277F-256601D6B35B}"/>
              </a:ext>
            </a:extLst>
          </p:cNvPr>
          <p:cNvSpPr txBox="1"/>
          <p:nvPr/>
        </p:nvSpPr>
        <p:spPr>
          <a:xfrm>
            <a:off x="6613742" y="4929096"/>
            <a:ext cx="7288868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- polarity: asserts | denies | qualifies  (CRITICAL: "X does not cause Y" must be recorded with polarity "denies", never collapsed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B98FFE-0793-9315-EAF0-EABF0D025EBB}"/>
              </a:ext>
            </a:extLst>
          </p:cNvPr>
          <p:cNvSpPr txBox="1"/>
          <p:nvPr/>
        </p:nvSpPr>
        <p:spPr>
          <a:xfrm>
            <a:off x="6613742" y="5037148"/>
            <a:ext cx="1367211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into an assertion)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241A867-F3FC-E2B6-F709-D3EBF6E43368}"/>
              </a:ext>
            </a:extLst>
          </p:cNvPr>
          <p:cNvSpPr txBox="1"/>
          <p:nvPr/>
        </p:nvSpPr>
        <p:spPr>
          <a:xfrm>
            <a:off x="6613742" y="5145199"/>
            <a:ext cx="7611869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- scope_conditions: the population/context/qualification that bounds the claim (e.g. "only a small subset of already privileged women");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79259C9-9ECD-3065-2927-5E266C89E898}"/>
              </a:ext>
            </a:extLst>
          </p:cNvPr>
          <p:cNvSpPr txBox="1"/>
          <p:nvPr/>
        </p:nvSpPr>
        <p:spPr>
          <a:xfrm>
            <a:off x="6613742" y="5253251"/>
            <a:ext cx="5996874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null if none. In qualitative work these conditions are often the substance of the claim, not decoration.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78983D0-B2B4-5CED-015E-2CDA1A4DB141}"/>
              </a:ext>
            </a:extLst>
          </p:cNvPr>
          <p:cNvSpPr txBox="1"/>
          <p:nvPr/>
        </p:nvSpPr>
        <p:spPr>
          <a:xfrm>
            <a:off x="6613742" y="5361303"/>
            <a:ext cx="3412875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Never let the decomposition alter the verbatim "text" field.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64908A4-C012-B0DD-2F5B-F64F2D02699E}"/>
              </a:ext>
            </a:extLst>
          </p:cNvPr>
          <p:cNvSpPr txBox="1"/>
          <p:nvPr/>
        </p:nvSpPr>
        <p:spPr>
          <a:xfrm>
            <a:off x="6613742" y="5469355"/>
            <a:ext cx="236713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189BCD-A7CD-DB87-28F8-F9F2A1312908}"/>
              </a:ext>
            </a:extLst>
          </p:cNvPr>
          <p:cNvSpPr txBox="1"/>
          <p:nvPr/>
        </p:nvSpPr>
        <p:spPr>
          <a:xfrm>
            <a:off x="6613742" y="5577407"/>
            <a:ext cx="2713043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PROVENANCE GUARD (additive "provenance" field):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F0E6A01-ABC5-1DD2-9DCF-3D8EA35A713A}"/>
              </a:ext>
            </a:extLst>
          </p:cNvPr>
          <p:cNvSpPr txBox="1"/>
          <p:nvPr/>
        </p:nvSpPr>
        <p:spPr>
          <a:xfrm>
            <a:off x="6613742" y="5685458"/>
            <a:ext cx="5350875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Qualitative and argumentative papers are dense with attributed positions. For each claim assign: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6C1408B-D761-10C8-A401-BCD9747A4D11}"/>
              </a:ext>
            </a:extLst>
          </p:cNvPr>
          <p:cNvSpPr txBox="1"/>
          <p:nvPr/>
        </p:nvSpPr>
        <p:spPr>
          <a:xfrm>
            <a:off x="6613742" y="5793510"/>
            <a:ext cx="3251375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- author_original: the authors' own novel contribution.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854791B-7DD5-FC03-1185-B7C9742035B5}"/>
              </a:ext>
            </a:extLst>
          </p:cNvPr>
          <p:cNvSpPr txBox="1"/>
          <p:nvPr/>
        </p:nvSpPr>
        <p:spPr>
          <a:xfrm>
            <a:off x="6613742" y="5901562"/>
            <a:ext cx="4974041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- endorsed_from_cited: a position the authors adopt but which originates in cited work.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B0E297A-3282-FBA8-5AC1-D63F456727BD}"/>
              </a:ext>
            </a:extLst>
          </p:cNvPr>
          <p:cNvSpPr txBox="1"/>
          <p:nvPr/>
        </p:nvSpPr>
        <p:spPr>
          <a:xfrm>
            <a:off x="6613742" y="6009614"/>
            <a:ext cx="5566208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- attributed_to_others: a position the authors describe or critique but do not themselves advance.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31B7E42-ED36-56AD-6288-8484487117EF}"/>
              </a:ext>
            </a:extLst>
          </p:cNvPr>
          <p:cNvSpPr txBox="1"/>
          <p:nvPr/>
        </p:nvSpPr>
        <p:spPr>
          <a:xfrm>
            <a:off x="6613742" y="6117665"/>
            <a:ext cx="7881035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Only extract claims that are author_original or that the authors genuinely make their own. Do NOT extract a position merely because the authors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17E4A45-DEF8-AA6C-31E2-2E5C68ECD597}"/>
              </a:ext>
            </a:extLst>
          </p:cNvPr>
          <p:cNvSpPr txBox="1"/>
          <p:nvPr/>
        </p:nvSpPr>
        <p:spPr>
          <a:xfrm>
            <a:off x="6613742" y="6225717"/>
            <a:ext cx="5781538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discuss it; if it belongs to a cited author and is only reported, it is not a novel claim of this paper.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428DEDC-F725-A046-E9BC-4B3E15566AC8}"/>
              </a:ext>
            </a:extLst>
          </p:cNvPr>
          <p:cNvSpPr txBox="1"/>
          <p:nvPr/>
        </p:nvSpPr>
        <p:spPr>
          <a:xfrm>
            <a:off x="6613742" y="6333769"/>
            <a:ext cx="236713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45DA11A-0DF0-4C0B-E84A-7F2D416E2DE9}"/>
              </a:ext>
            </a:extLst>
          </p:cNvPr>
          <p:cNvSpPr txBox="1"/>
          <p:nvPr/>
        </p:nvSpPr>
        <p:spPr>
          <a:xfrm>
            <a:off x="6613742" y="6441820"/>
            <a:ext cx="1636377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CROSS-DISCIPLINARY TAGGING: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354481B-0FE3-D5E8-1802-5A5D2B1D40AB}"/>
              </a:ext>
            </a:extLst>
          </p:cNvPr>
          <p:cNvSpPr txBox="1"/>
          <p:nvPr/>
        </p:nvSpPr>
        <p:spPr>
          <a:xfrm>
            <a:off x="6613742" y="6549873"/>
            <a:ext cx="7611869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Populate the additive "disciplines" array (e.g. bioethics, demography, geography, sociology, economics, public health, medical humanities,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65893CC-FD4E-1136-45AA-C8A598C546FD}"/>
              </a:ext>
            </a:extLst>
          </p:cNvPr>
          <p:cNvSpPr txBox="1"/>
          <p:nvPr/>
        </p:nvSpPr>
        <p:spPr>
          <a:xfrm>
            <a:off x="6613742" y="6657924"/>
            <a:ext cx="7773368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gender studies, science and technology studies) and the additive "contextual_factors" array with any local/structural/social determinants the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166E7B2-8DEA-374A-07EA-F8E4D1AED7CC}"/>
              </a:ext>
            </a:extLst>
          </p:cNvPr>
          <p:cNvSpPr txBox="1"/>
          <p:nvPr/>
        </p:nvSpPr>
        <p:spPr>
          <a:xfrm>
            <a:off x="6613742" y="6765976"/>
            <a:ext cx="7450368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claim touches (e.g. housing markets, kin networks, ART access, workforce participation, race, sexual orientation, socioeconomic status,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523795A-7475-D3F1-E034-6A8424F419C1}"/>
              </a:ext>
            </a:extLst>
          </p:cNvPr>
          <p:cNvSpPr txBox="1"/>
          <p:nvPr/>
        </p:nvSpPr>
        <p:spPr>
          <a:xfrm>
            <a:off x="6613742" y="6874028"/>
            <a:ext cx="1044212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medicalisation).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C1BC8AE-E8B7-CBF7-E076-6ACBA5CD25C5}"/>
              </a:ext>
            </a:extLst>
          </p:cNvPr>
          <p:cNvSpPr txBox="1"/>
          <p:nvPr/>
        </p:nvSpPr>
        <p:spPr>
          <a:xfrm>
            <a:off x="6613742" y="6982079"/>
            <a:ext cx="236713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8429CF4-8B59-C52B-A18D-D9B4A2ED253C}"/>
              </a:ext>
            </a:extLst>
          </p:cNvPr>
          <p:cNvSpPr txBox="1"/>
          <p:nvPr/>
        </p:nvSpPr>
        <p:spPr>
          <a:xfrm>
            <a:off x="6613742" y="7090131"/>
            <a:ext cx="1744044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For each claim you must also: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6E2B0AB-8EC8-39D7-4750-D8CC5E72BEBA}"/>
              </a:ext>
            </a:extLst>
          </p:cNvPr>
          <p:cNvSpPr txBox="1"/>
          <p:nvPr/>
        </p:nvSpPr>
        <p:spPr>
          <a:xfrm>
            <a:off x="6613742" y="7198183"/>
            <a:ext cx="7611869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1. Classify the claim type: empirical_result (findings from data/experiments), theoretical_claim (conceptual or theoretical assertion), or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B1DFA63-8522-6916-B11B-5717485D258E}"/>
              </a:ext>
            </a:extLst>
          </p:cNvPr>
          <p:cNvSpPr txBox="1"/>
          <p:nvPr/>
        </p:nvSpPr>
        <p:spPr>
          <a:xfrm>
            <a:off x="6613742" y="7306235"/>
            <a:ext cx="7719534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methodological_contribution (method or approach contribution). Most qualitative/normative/interpretive claims will be theoretical_claim; use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5E95907-E062-29DC-D5A2-F6378B0DD422}"/>
              </a:ext>
            </a:extLst>
          </p:cNvPr>
          <p:cNvSpPr txBox="1"/>
          <p:nvPr/>
        </p:nvSpPr>
        <p:spPr>
          <a:xfrm>
            <a:off x="6613742" y="7414286"/>
            <a:ext cx="2605375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the additive claim_form for finer resolution.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12AB612-C42C-87D5-1EC2-086637F40383}"/>
              </a:ext>
            </a:extLst>
          </p:cNvPr>
          <p:cNvSpPr txBox="1"/>
          <p:nvPr/>
        </p:nvSpPr>
        <p:spPr>
          <a:xfrm>
            <a:off x="6613742" y="7522338"/>
            <a:ext cx="7181203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2. Indicate the section where the claim appears (e.g. Abstract, Commentary, Discussion, Conclusion). Qualitative papers may lack a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F2D7748-D3B1-2BB2-FD48-8A981AF43225}"/>
              </a:ext>
            </a:extLst>
          </p:cNvPr>
          <p:cNvSpPr txBox="1"/>
          <p:nvPr/>
        </p:nvSpPr>
        <p:spPr>
          <a:xfrm>
            <a:off x="6613742" y="7630390"/>
            <a:ext cx="3466708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Results/Methods structure; use the nearest descriptive label.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E5A2E44-67AF-9B36-3065-16BF1DA04C83}"/>
              </a:ext>
            </a:extLst>
          </p:cNvPr>
          <p:cNvSpPr txBox="1"/>
          <p:nvPr/>
        </p:nvSpPr>
        <p:spPr>
          <a:xfrm>
            <a:off x="6613742" y="7738442"/>
            <a:ext cx="7665700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3. Extract evidence that supports the claim. For each piece of evidence give: verbatim or close paraphrase, type (experimental | citation |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C6811AA-D372-392B-FB81-C2D5A93BCB13}"/>
              </a:ext>
            </a:extLst>
          </p:cNvPr>
          <p:cNvSpPr txBox="1"/>
          <p:nvPr/>
        </p:nvSpPr>
        <p:spPr>
          <a:xfrm>
            <a:off x="6613742" y="7846494"/>
            <a:ext cx="7881035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theoretical), strength (strong | moderate | weak), and the additive "support_mode" (argumentation | illustrative_example | discourse_analysis |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9463244-499E-D0EE-319C-09B6DB001833}"/>
              </a:ext>
            </a:extLst>
          </p:cNvPr>
          <p:cNvSpPr txBox="1"/>
          <p:nvPr/>
        </p:nvSpPr>
        <p:spPr>
          <a:xfrm>
            <a:off x="6613742" y="7954545"/>
            <a:ext cx="7450369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normative_appeal | citation | empirical). In qualitative work, "theoretical" type covers argued warrants and normative appeals; reserve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66B9CB5-96EB-1A2E-06E3-C521E1ED8F71}"/>
              </a:ext>
            </a:extLst>
          </p:cNvPr>
          <p:cNvSpPr txBox="1"/>
          <p:nvPr/>
        </p:nvSpPr>
        <p:spPr>
          <a:xfrm>
            <a:off x="6613742" y="8062597"/>
            <a:ext cx="6373704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"experimental" for actual data. supporting_claims should list the claim_id(s) this evidence supports (e.g. ["C1"]).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7A7FFA7-EE92-084D-7CCE-47298639705C}"/>
              </a:ext>
            </a:extLst>
          </p:cNvPr>
          <p:cNvSpPr txBox="1"/>
          <p:nvPr/>
        </p:nvSpPr>
        <p:spPr>
          <a:xfrm>
            <a:off x="6613742" y="8170649"/>
            <a:ext cx="236713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ABFCDF4-3CE6-5191-D423-5EDBE5161621}"/>
              </a:ext>
            </a:extLst>
          </p:cNvPr>
          <p:cNvSpPr txBox="1"/>
          <p:nvPr/>
        </p:nvSpPr>
        <p:spPr>
          <a:xfrm>
            <a:off x="6613742" y="8278701"/>
            <a:ext cx="3143708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Extract statements verbatim; do not deduce or rephrase.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410F784-40CF-C12A-43E8-5537D5E0FD6D}"/>
              </a:ext>
            </a:extLst>
          </p:cNvPr>
          <p:cNvSpPr txBox="1"/>
          <p:nvPr/>
        </p:nvSpPr>
        <p:spPr>
          <a:xfrm>
            <a:off x="6613742" y="8386752"/>
            <a:ext cx="236713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E315F74-5EA5-940D-43A4-3F9D26AE334D}"/>
              </a:ext>
            </a:extLst>
          </p:cNvPr>
          <p:cNvSpPr txBox="1"/>
          <p:nvPr/>
        </p:nvSpPr>
        <p:spPr>
          <a:xfrm>
            <a:off x="6613742" y="8494804"/>
            <a:ext cx="7181204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Provide your answer as valid JSON in exactly this format (no markdown fences). "claim_form", "relational_structure", "provenance",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86ACE8A-2B83-9FBB-F850-AC95652C48DD}"/>
              </a:ext>
            </a:extLst>
          </p:cNvPr>
          <p:cNvSpPr txBox="1"/>
          <p:nvPr/>
        </p:nvSpPr>
        <p:spPr>
          <a:xfrm>
            <a:off x="6613742" y="8602856"/>
            <a:ext cx="6750536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"disciplines", "contextual_factors", and evidence "support_mode" are ADDITIVE; every other key is mandatory and unchanged: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67FDF56-22F9-ACD5-B237-22004AC4D333}"/>
              </a:ext>
            </a:extLst>
          </p:cNvPr>
          <p:cNvSpPr txBox="1"/>
          <p:nvPr/>
        </p:nvSpPr>
        <p:spPr>
          <a:xfrm>
            <a:off x="6613742" y="8710908"/>
            <a:ext cx="1582544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{"paper_id": "&lt;Paper_ID&gt;",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2D967D9-2F12-6FAF-5878-7770D7CEAB60}"/>
              </a:ext>
            </a:extLst>
          </p:cNvPr>
          <p:cNvSpPr txBox="1"/>
          <p:nvPr/>
        </p:nvSpPr>
        <p:spPr>
          <a:xfrm>
            <a:off x="6613742" y="8818960"/>
            <a:ext cx="828879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"claims": [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52871E8-CCBD-3785-FF3F-AA7C6F37EEF7}"/>
              </a:ext>
            </a:extLst>
          </p:cNvPr>
          <p:cNvSpPr txBox="1"/>
          <p:nvPr/>
        </p:nvSpPr>
        <p:spPr>
          <a:xfrm>
            <a:off x="6613742" y="8927011"/>
            <a:ext cx="398212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{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F808F96-2A17-2A11-55B4-A0877D818E54}"/>
              </a:ext>
            </a:extLst>
          </p:cNvPr>
          <p:cNvSpPr txBox="1"/>
          <p:nvPr/>
        </p:nvSpPr>
        <p:spPr>
          <a:xfrm>
            <a:off x="6613742" y="9035063"/>
            <a:ext cx="1367211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"claim_id": "C1",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6201E47-4E1A-A9D3-6563-D32274B99E54}"/>
              </a:ext>
            </a:extLst>
          </p:cNvPr>
          <p:cNvSpPr txBox="1"/>
          <p:nvPr/>
        </p:nvSpPr>
        <p:spPr>
          <a:xfrm>
            <a:off x="6613742" y="9143115"/>
            <a:ext cx="5566208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"text": "Egg freezing is not going to address the shortage of partners for professional women",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908C704-C40E-07C4-F71E-A53A3F042641}"/>
              </a:ext>
            </a:extLst>
          </p:cNvPr>
          <p:cNvSpPr txBox="1"/>
          <p:nvPr/>
        </p:nvSpPr>
        <p:spPr>
          <a:xfrm>
            <a:off x="6613742" y="9251167"/>
            <a:ext cx="1959377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"type": "theoretical_claim",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4FD243D-99F0-DC10-1F8F-277E99C2938E}"/>
              </a:ext>
            </a:extLst>
          </p:cNvPr>
          <p:cNvSpPr txBox="1"/>
          <p:nvPr/>
        </p:nvSpPr>
        <p:spPr>
          <a:xfrm>
            <a:off x="6613742" y="9359218"/>
            <a:ext cx="1744044" cy="20609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"section": "Commentary",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9BCD7B9-D43A-4889-CA6A-A233AA5403D5}"/>
              </a:ext>
            </a:extLst>
          </p:cNvPr>
          <p:cNvSpPr txBox="1"/>
          <p:nvPr/>
        </p:nvSpPr>
        <p:spPr>
          <a:xfrm>
            <a:off x="6613742" y="9467270"/>
            <a:ext cx="2013210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"claim_form": "refutational",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913B273-2383-7477-87D4-BF12B82D518D}"/>
              </a:ext>
            </a:extLst>
          </p:cNvPr>
          <p:cNvSpPr txBox="1"/>
          <p:nvPr/>
        </p:nvSpPr>
        <p:spPr>
          <a:xfrm>
            <a:off x="6613742" y="9575322"/>
            <a:ext cx="2174710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"provenance": "author_original",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29F8178-961A-2346-700A-FF7EA76B4F56}"/>
              </a:ext>
            </a:extLst>
          </p:cNvPr>
          <p:cNvSpPr txBox="1"/>
          <p:nvPr/>
        </p:nvSpPr>
        <p:spPr>
          <a:xfrm>
            <a:off x="6613742" y="9683373"/>
            <a:ext cx="1797877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"relational_structure": {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DE936E9-2C78-1635-8965-09E064CE2403}"/>
              </a:ext>
            </a:extLst>
          </p:cNvPr>
          <p:cNvSpPr txBox="1"/>
          <p:nvPr/>
        </p:nvSpPr>
        <p:spPr>
          <a:xfrm>
            <a:off x="6613742" y="9791426"/>
            <a:ext cx="2390043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  "subject_concept": "Egg freezing",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AF0844B-A3E8-04BC-5EB4-6E47EFAA9D5D}"/>
              </a:ext>
            </a:extLst>
          </p:cNvPr>
          <p:cNvSpPr txBox="1"/>
          <p:nvPr/>
        </p:nvSpPr>
        <p:spPr>
          <a:xfrm>
            <a:off x="6613742" y="9899477"/>
            <a:ext cx="1744044" cy="20609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  "relation": "address",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D4EA450-CC42-23BA-0B69-E61E021433D8}"/>
              </a:ext>
            </a:extLst>
          </p:cNvPr>
          <p:cNvSpPr txBox="1"/>
          <p:nvPr/>
        </p:nvSpPr>
        <p:spPr>
          <a:xfrm>
            <a:off x="6613742" y="10007529"/>
            <a:ext cx="4220374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  "object_concept": "the shortage of partners for professional women",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9A77294-39E5-6086-D1D2-95CD64639F0A}"/>
              </a:ext>
            </a:extLst>
          </p:cNvPr>
          <p:cNvSpPr txBox="1"/>
          <p:nvPr/>
        </p:nvSpPr>
        <p:spPr>
          <a:xfrm>
            <a:off x="6613742" y="10115581"/>
            <a:ext cx="1690211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  "polarity": "denies",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D2A23B8-EE9A-EA1D-ED34-E58AE0A86400}"/>
              </a:ext>
            </a:extLst>
          </p:cNvPr>
          <p:cNvSpPr txBox="1"/>
          <p:nvPr/>
        </p:nvSpPr>
        <p:spPr>
          <a:xfrm>
            <a:off x="6613742" y="10223632"/>
            <a:ext cx="4328040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  "scope_conditions": "professional women who are delaying childbearing"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A317686-B62F-ED5C-246C-A61F5018D657}"/>
              </a:ext>
            </a:extLst>
          </p:cNvPr>
          <p:cNvSpPr txBox="1"/>
          <p:nvPr/>
        </p:nvSpPr>
        <p:spPr>
          <a:xfrm>
            <a:off x="6613742" y="10331685"/>
            <a:ext cx="559712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},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1C966FA-121B-8198-DE28-B41DB7512880}"/>
              </a:ext>
            </a:extLst>
          </p:cNvPr>
          <p:cNvSpPr txBox="1"/>
          <p:nvPr/>
        </p:nvSpPr>
        <p:spPr>
          <a:xfrm>
            <a:off x="6613742" y="10439736"/>
            <a:ext cx="2766876" cy="20609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"disciplines": ["bioethics", "demography"],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2244804-0EA7-2758-17FB-77D9DE23B88C}"/>
              </a:ext>
            </a:extLst>
          </p:cNvPr>
          <p:cNvSpPr txBox="1"/>
          <p:nvPr/>
        </p:nvSpPr>
        <p:spPr>
          <a:xfrm>
            <a:off x="6613742" y="10547788"/>
            <a:ext cx="4435706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"contextual_factors": ["partner availability", "workforce participation"],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4419D7B-A06A-31FC-DAA8-D36619331E50}"/>
              </a:ext>
            </a:extLst>
          </p:cNvPr>
          <p:cNvSpPr txBox="1"/>
          <p:nvPr/>
        </p:nvSpPr>
        <p:spPr>
          <a:xfrm>
            <a:off x="6613742" y="10655840"/>
            <a:ext cx="1151878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"evidence": [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EFE7227-5B18-C2DC-1CD9-77CB91C8EF41}"/>
              </a:ext>
            </a:extLst>
          </p:cNvPr>
          <p:cNvSpPr txBox="1"/>
          <p:nvPr/>
        </p:nvSpPr>
        <p:spPr>
          <a:xfrm>
            <a:off x="6613742" y="10763891"/>
            <a:ext cx="613545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  {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9BF4577-E979-5B7F-7035-269ACE79F472}"/>
              </a:ext>
            </a:extLst>
          </p:cNvPr>
          <p:cNvSpPr txBox="1"/>
          <p:nvPr/>
        </p:nvSpPr>
        <p:spPr>
          <a:xfrm>
            <a:off x="6613742" y="10871943"/>
            <a:ext cx="1744044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    "evidence_id": "E1",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1689B55-973F-19F6-52F9-BED7D27FF32F}"/>
              </a:ext>
            </a:extLst>
          </p:cNvPr>
          <p:cNvSpPr txBox="1"/>
          <p:nvPr/>
        </p:nvSpPr>
        <p:spPr>
          <a:xfrm>
            <a:off x="6613742" y="10979995"/>
            <a:ext cx="7665708" cy="20609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    "text": "empirical research shows that the reason most women are delaying childbearing is not because of their career, but because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A27D2A5-BFF4-A04C-82D5-E035A6F8D265}"/>
              </a:ext>
            </a:extLst>
          </p:cNvPr>
          <p:cNvSpPr txBox="1"/>
          <p:nvPr/>
        </p:nvSpPr>
        <p:spPr>
          <a:xfrm>
            <a:off x="6613742" y="11088047"/>
            <a:ext cx="2282376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             they lack a partner",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73A4BE2-D880-D23E-AD55-FA5C779248CA}"/>
              </a:ext>
            </a:extLst>
          </p:cNvPr>
          <p:cNvSpPr txBox="1"/>
          <p:nvPr/>
        </p:nvSpPr>
        <p:spPr>
          <a:xfrm>
            <a:off x="6613742" y="11196099"/>
            <a:ext cx="1690211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    "type": "citation",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73226FA-857D-BDBC-CE99-D022FDD94911}"/>
              </a:ext>
            </a:extLst>
          </p:cNvPr>
          <p:cNvSpPr txBox="1"/>
          <p:nvPr/>
        </p:nvSpPr>
        <p:spPr>
          <a:xfrm>
            <a:off x="6613742" y="11304150"/>
            <a:ext cx="1797877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    "strength": "strong",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540A632-6608-B0E9-FC5C-21FB85DFA4E0}"/>
              </a:ext>
            </a:extLst>
          </p:cNvPr>
          <p:cNvSpPr txBox="1"/>
          <p:nvPr/>
        </p:nvSpPr>
        <p:spPr>
          <a:xfrm>
            <a:off x="6613742" y="11412202"/>
            <a:ext cx="2174710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    "support_mode": "empirical",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24BC182-136F-693D-ACEC-683A2A40556B}"/>
              </a:ext>
            </a:extLst>
          </p:cNvPr>
          <p:cNvSpPr txBox="1"/>
          <p:nvPr/>
        </p:nvSpPr>
        <p:spPr>
          <a:xfrm>
            <a:off x="6613742" y="11520253"/>
            <a:ext cx="2120877" cy="20609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    "supporting_claims": ["C1"]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3B6E98C-2774-49A4-ED18-D3E492EEB555}"/>
              </a:ext>
            </a:extLst>
          </p:cNvPr>
          <p:cNvSpPr txBox="1"/>
          <p:nvPr/>
        </p:nvSpPr>
        <p:spPr>
          <a:xfrm>
            <a:off x="6613742" y="11628306"/>
            <a:ext cx="613545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  }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DD6D525-B7B8-D1EB-A70F-75A11C0A99A6}"/>
              </a:ext>
            </a:extLst>
          </p:cNvPr>
          <p:cNvSpPr txBox="1"/>
          <p:nvPr/>
        </p:nvSpPr>
        <p:spPr>
          <a:xfrm>
            <a:off x="6613742" y="11736358"/>
            <a:ext cx="505879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  ]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7243DDC-3601-E864-94AD-B1F72D4015A6}"/>
              </a:ext>
            </a:extLst>
          </p:cNvPr>
          <p:cNvSpPr txBox="1"/>
          <p:nvPr/>
        </p:nvSpPr>
        <p:spPr>
          <a:xfrm>
            <a:off x="6613742" y="11844409"/>
            <a:ext cx="398212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  }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CD6DBA4-EDF3-E474-BE67-66FFA48EC947}"/>
              </a:ext>
            </a:extLst>
          </p:cNvPr>
          <p:cNvSpPr txBox="1"/>
          <p:nvPr/>
        </p:nvSpPr>
        <p:spPr>
          <a:xfrm>
            <a:off x="6613742" y="11952461"/>
            <a:ext cx="290546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]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8E60D54-E525-67A6-2685-7283B47B45D4}"/>
              </a:ext>
            </a:extLst>
          </p:cNvPr>
          <p:cNvSpPr txBox="1"/>
          <p:nvPr/>
        </p:nvSpPr>
        <p:spPr>
          <a:xfrm>
            <a:off x="6613742" y="12060512"/>
            <a:ext cx="236713" cy="20609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}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59EE506-E616-343E-178B-1B9131CC05C6}"/>
              </a:ext>
            </a:extLst>
          </p:cNvPr>
          <p:cNvSpPr txBox="1"/>
          <p:nvPr/>
        </p:nvSpPr>
        <p:spPr>
          <a:xfrm>
            <a:off x="6613742" y="12168564"/>
            <a:ext cx="236713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44A6F30-F261-65AF-EA72-0968DA20B635}"/>
              </a:ext>
            </a:extLst>
          </p:cNvPr>
          <p:cNvSpPr txBox="1"/>
          <p:nvPr/>
        </p:nvSpPr>
        <p:spPr>
          <a:xfrm>
            <a:off x="6613742" y="12276617"/>
            <a:ext cx="990378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Allowed values: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948D87D-9BDE-4F7B-D7E1-C65D3E835E0F}"/>
              </a:ext>
            </a:extLst>
          </p:cNvPr>
          <p:cNvSpPr txBox="1"/>
          <p:nvPr/>
        </p:nvSpPr>
        <p:spPr>
          <a:xfrm>
            <a:off x="6613742" y="12384668"/>
            <a:ext cx="4597207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- type (claim): empirical_result | theoretical_claim | methodological_contribution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5086D51-3F85-D2CA-A8DC-9009960F9913}"/>
              </a:ext>
            </a:extLst>
          </p:cNvPr>
          <p:cNvSpPr txBox="1"/>
          <p:nvPr/>
        </p:nvSpPr>
        <p:spPr>
          <a:xfrm>
            <a:off x="6613742" y="12492720"/>
            <a:ext cx="3197541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- type (evidence): experimental | citation | theoretical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57C0C0F-5E99-F0E4-F689-DDC92646611A}"/>
              </a:ext>
            </a:extLst>
          </p:cNvPr>
          <p:cNvSpPr txBox="1"/>
          <p:nvPr/>
        </p:nvSpPr>
        <p:spPr>
          <a:xfrm>
            <a:off x="6613742" y="12600771"/>
            <a:ext cx="2120877" cy="20609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- strength: strong | moderate | weak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87F7AC0-A19D-70F6-1743-60536C5124FF}"/>
              </a:ext>
            </a:extLst>
          </p:cNvPr>
          <p:cNvSpPr txBox="1"/>
          <p:nvPr/>
        </p:nvSpPr>
        <p:spPr>
          <a:xfrm>
            <a:off x="6613742" y="12708823"/>
            <a:ext cx="7504203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- claim_form (additive): causal_associative | refutational | normative_evaluative | interpretive | definitional_conceptual | conditional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4527EF3-2B07-B1D1-5C10-B475D4EBF021}"/>
              </a:ext>
            </a:extLst>
          </p:cNvPr>
          <p:cNvSpPr txBox="1"/>
          <p:nvPr/>
        </p:nvSpPr>
        <p:spPr>
          <a:xfrm>
            <a:off x="6613742" y="12816875"/>
            <a:ext cx="2928376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- polarity (additive): asserts | denies | qualifies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227A5D6-A55F-1F77-F531-A242F98BD8BE}"/>
              </a:ext>
            </a:extLst>
          </p:cNvPr>
          <p:cNvSpPr txBox="1"/>
          <p:nvPr/>
        </p:nvSpPr>
        <p:spPr>
          <a:xfrm>
            <a:off x="6613742" y="12924927"/>
            <a:ext cx="4758706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- provenance (additive): author_original | endorsed_from_cited | attributed_to_others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5D7DEF3-75C3-4391-DC36-6F6B1F8B8FFC}"/>
              </a:ext>
            </a:extLst>
          </p:cNvPr>
          <p:cNvSpPr txBox="1"/>
          <p:nvPr/>
        </p:nvSpPr>
        <p:spPr>
          <a:xfrm>
            <a:off x="6613742" y="13032979"/>
            <a:ext cx="6965870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- support_mode (additive): argumentation | illustrative_example | discourse_analysis | normative_appeal | citation | empirical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177579C-A3CA-5F4A-DC55-3A71A4F044FE}"/>
              </a:ext>
            </a:extLst>
          </p:cNvPr>
          <p:cNvSpPr txBox="1"/>
          <p:nvPr/>
        </p:nvSpPr>
        <p:spPr>
          <a:xfrm>
            <a:off x="6613742" y="13141030"/>
            <a:ext cx="236713" cy="20609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F1B5F90-5DB5-8245-8E1A-C23A7565A58F}"/>
              </a:ext>
            </a:extLst>
          </p:cNvPr>
          <p:cNvSpPr txBox="1"/>
          <p:nvPr/>
        </p:nvSpPr>
        <p:spPr>
          <a:xfrm>
            <a:off x="6613742" y="13249082"/>
            <a:ext cx="4758706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If there are no claims in the paper, return: {"paper_id": "&lt;Paper_ID&gt;", "claims": []}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94302E20-272A-33D8-029D-9A78F1D9B57A}"/>
              </a:ext>
            </a:extLst>
          </p:cNvPr>
          <p:cNvSpPr txBox="1"/>
          <p:nvPr/>
        </p:nvSpPr>
        <p:spPr>
          <a:xfrm>
            <a:off x="6613742" y="13357134"/>
            <a:ext cx="236713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 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3CA5F46-83E3-98F8-DAEF-218B6E2B5794}"/>
              </a:ext>
            </a:extLst>
          </p:cNvPr>
          <p:cNvSpPr txBox="1"/>
          <p:nvPr/>
        </p:nvSpPr>
        <p:spPr>
          <a:xfrm>
            <a:off x="6613742" y="13465185"/>
            <a:ext cx="1259545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Paper_ID: {Paper_ID}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4D40C2E-B7FE-4BEE-63C9-31EC8FBC6BBD}"/>
              </a:ext>
            </a:extLst>
          </p:cNvPr>
          <p:cNvSpPr txBox="1"/>
          <p:nvPr/>
        </p:nvSpPr>
        <p:spPr>
          <a:xfrm>
            <a:off x="6613742" y="13573238"/>
            <a:ext cx="936545" cy="206096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Title: {Title}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BC43696-50AD-C553-521C-761127B7ACD4}"/>
              </a:ext>
            </a:extLst>
          </p:cNvPr>
          <p:cNvSpPr txBox="1"/>
          <p:nvPr/>
        </p:nvSpPr>
        <p:spPr>
          <a:xfrm>
            <a:off x="6613742" y="13681289"/>
            <a:ext cx="1151878" cy="20609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867" spc="0" baseline="55363">
                <a:ln/>
                <a:solidFill>
                  <a:srgbClr val="141414"/>
                </a:solidFill>
                <a:latin typeface="Consolas"/>
                <a:sym typeface="Consolas"/>
                <a:rtl val="0"/>
              </a:rPr>
              <a:t>Content: {Content}</a:t>
            </a:r>
          </a:p>
        </p:txBody>
      </p:sp>
      <p:grpSp>
        <p:nvGrpSpPr>
          <p:cNvPr id="144" name="Graphic 3">
            <a:extLst>
              <a:ext uri="{FF2B5EF4-FFF2-40B4-BE49-F238E27FC236}">
                <a16:creationId xmlns:a16="http://schemas.microsoft.com/office/drawing/2014/main" id="{F8C0847F-5891-72C2-1B61-B125414108AF}"/>
              </a:ext>
            </a:extLst>
          </p:cNvPr>
          <p:cNvGrpSpPr/>
          <p:nvPr/>
        </p:nvGrpSpPr>
        <p:grpSpPr>
          <a:xfrm>
            <a:off x="6401313" y="1830096"/>
            <a:ext cx="8845970" cy="11649331"/>
            <a:chOff x="6401313" y="1830096"/>
            <a:chExt cx="8845970" cy="11649331"/>
          </a:xfrm>
        </p:grpSpPr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5BE1DE63-68EA-1E14-F1F1-7A1A93BB5ED7}"/>
                </a:ext>
              </a:extLst>
            </p:cNvPr>
            <p:cNvSpPr/>
            <p:nvPr/>
          </p:nvSpPr>
          <p:spPr>
            <a:xfrm>
              <a:off x="6401313" y="1830096"/>
              <a:ext cx="202579" cy="202597"/>
            </a:xfrm>
            <a:prstGeom prst="ellipse">
              <a:avLst/>
            </a:prstGeom>
            <a:solidFill>
              <a:srgbClr val="14706E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C2F5514D-7BB2-B600-1F53-8934D695268D}"/>
                </a:ext>
              </a:extLst>
            </p:cNvPr>
            <p:cNvSpPr txBox="1"/>
            <p:nvPr/>
          </p:nvSpPr>
          <p:spPr>
            <a:xfrm>
              <a:off x="6381119" y="1826690"/>
              <a:ext cx="242968" cy="2121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638" b="1" spc="0" baseline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1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7A78D7F7-EA6C-A4E2-43EA-6A50F9D684AC}"/>
                </a:ext>
              </a:extLst>
            </p:cNvPr>
            <p:cNvSpPr/>
            <p:nvPr/>
          </p:nvSpPr>
          <p:spPr>
            <a:xfrm>
              <a:off x="15044705" y="2589835"/>
              <a:ext cx="202579" cy="202597"/>
            </a:xfrm>
            <a:prstGeom prst="ellipse">
              <a:avLst/>
            </a:prstGeom>
            <a:solidFill>
              <a:srgbClr val="3B4E9B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D6A1394B-A1D7-B5C7-3260-9D1B96DDCDFD}"/>
                </a:ext>
              </a:extLst>
            </p:cNvPr>
            <p:cNvSpPr txBox="1"/>
            <p:nvPr/>
          </p:nvSpPr>
          <p:spPr>
            <a:xfrm>
              <a:off x="15024511" y="2586429"/>
              <a:ext cx="242967" cy="2121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638" b="1" spc="0" baseline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2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5C998F5-FDC1-7976-8C4B-8D62B4C254C5}"/>
                </a:ext>
              </a:extLst>
            </p:cNvPr>
            <p:cNvSpPr/>
            <p:nvPr/>
          </p:nvSpPr>
          <p:spPr>
            <a:xfrm>
              <a:off x="6401313" y="3130094"/>
              <a:ext cx="202579" cy="202597"/>
            </a:xfrm>
            <a:prstGeom prst="ellipse">
              <a:avLst/>
            </a:prstGeom>
            <a:solidFill>
              <a:srgbClr val="B8761A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0A75ADBA-D806-F991-92AE-CD1091F5A4B4}"/>
                </a:ext>
              </a:extLst>
            </p:cNvPr>
            <p:cNvSpPr txBox="1"/>
            <p:nvPr/>
          </p:nvSpPr>
          <p:spPr>
            <a:xfrm>
              <a:off x="6381119" y="3126688"/>
              <a:ext cx="242968" cy="2121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638" b="1" spc="0" baseline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3</a:t>
              </a: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0B275170-26D5-5558-F8C9-0BE038011F16}"/>
                </a:ext>
              </a:extLst>
            </p:cNvPr>
            <p:cNvSpPr/>
            <p:nvPr/>
          </p:nvSpPr>
          <p:spPr>
            <a:xfrm>
              <a:off x="15044705" y="4092430"/>
              <a:ext cx="202579" cy="202597"/>
            </a:xfrm>
            <a:prstGeom prst="ellipse">
              <a:avLst/>
            </a:prstGeom>
            <a:solidFill>
              <a:srgbClr val="9C2C57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69BC917-8C0F-E678-E732-64ABDCA25F86}"/>
                </a:ext>
              </a:extLst>
            </p:cNvPr>
            <p:cNvSpPr txBox="1"/>
            <p:nvPr/>
          </p:nvSpPr>
          <p:spPr>
            <a:xfrm>
              <a:off x="15024511" y="4089024"/>
              <a:ext cx="242967" cy="2121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638" b="1" spc="0" baseline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4</a:t>
              </a: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199F9DC9-C277-7DB6-93E3-A7955F8A0EB4}"/>
                </a:ext>
              </a:extLst>
            </p:cNvPr>
            <p:cNvSpPr/>
            <p:nvPr/>
          </p:nvSpPr>
          <p:spPr>
            <a:xfrm>
              <a:off x="6401313" y="5611908"/>
              <a:ext cx="202579" cy="202597"/>
            </a:xfrm>
            <a:prstGeom prst="ellipse">
              <a:avLst/>
            </a:prstGeom>
            <a:solidFill>
              <a:srgbClr val="2E7D55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492DB8FE-D2E1-E248-D237-F22594560A7F}"/>
                </a:ext>
              </a:extLst>
            </p:cNvPr>
            <p:cNvSpPr txBox="1"/>
            <p:nvPr/>
          </p:nvSpPr>
          <p:spPr>
            <a:xfrm>
              <a:off x="6381119" y="5608502"/>
              <a:ext cx="242968" cy="2121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638" b="1" spc="0" baseline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5</a:t>
              </a: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E3228854-44DB-C04D-466C-575CFDBAC36B}"/>
                </a:ext>
              </a:extLst>
            </p:cNvPr>
            <p:cNvSpPr/>
            <p:nvPr/>
          </p:nvSpPr>
          <p:spPr>
            <a:xfrm>
              <a:off x="15044705" y="6472946"/>
              <a:ext cx="202579" cy="202597"/>
            </a:xfrm>
            <a:prstGeom prst="ellipse">
              <a:avLst/>
            </a:prstGeom>
            <a:solidFill>
              <a:srgbClr val="1F6E8C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B97A95B7-ED6F-1AB7-13F8-58ACC2E51A64}"/>
                </a:ext>
              </a:extLst>
            </p:cNvPr>
            <p:cNvSpPr txBox="1"/>
            <p:nvPr/>
          </p:nvSpPr>
          <p:spPr>
            <a:xfrm>
              <a:off x="15024511" y="6469539"/>
              <a:ext cx="242967" cy="2121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638" b="1" spc="0" baseline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6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8F2D012B-2674-071A-715D-80D9A9546DE6}"/>
                </a:ext>
              </a:extLst>
            </p:cNvPr>
            <p:cNvSpPr/>
            <p:nvPr/>
          </p:nvSpPr>
          <p:spPr>
            <a:xfrm>
              <a:off x="6401313" y="8313203"/>
              <a:ext cx="202579" cy="202597"/>
            </a:xfrm>
            <a:prstGeom prst="ellipse">
              <a:avLst/>
            </a:prstGeom>
            <a:solidFill>
              <a:srgbClr val="A23E2A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08476923-9403-55BA-3335-DE470E43542D}"/>
                </a:ext>
              </a:extLst>
            </p:cNvPr>
            <p:cNvSpPr txBox="1"/>
            <p:nvPr/>
          </p:nvSpPr>
          <p:spPr>
            <a:xfrm>
              <a:off x="6381119" y="8309796"/>
              <a:ext cx="242968" cy="2121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638" b="1" spc="0" baseline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7</a:t>
              </a: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581C8D49-8A11-293C-ACED-65C77E3B253C}"/>
                </a:ext>
              </a:extLst>
            </p:cNvPr>
            <p:cNvSpPr/>
            <p:nvPr/>
          </p:nvSpPr>
          <p:spPr>
            <a:xfrm>
              <a:off x="15044705" y="8532683"/>
              <a:ext cx="202579" cy="202597"/>
            </a:xfrm>
            <a:prstGeom prst="ellipse">
              <a:avLst/>
            </a:prstGeom>
            <a:solidFill>
              <a:srgbClr val="6A4A9C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9EE6B9F9-30C8-9F9C-9BE2-9742760F6232}"/>
                </a:ext>
              </a:extLst>
            </p:cNvPr>
            <p:cNvSpPr txBox="1"/>
            <p:nvPr/>
          </p:nvSpPr>
          <p:spPr>
            <a:xfrm>
              <a:off x="15024511" y="8529276"/>
              <a:ext cx="242967" cy="2121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638" b="1" spc="0" baseline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8</a:t>
              </a:r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D60B5269-796F-F4F5-CC33-4B8157087AD0}"/>
                </a:ext>
              </a:extLst>
            </p:cNvPr>
            <p:cNvSpPr/>
            <p:nvPr/>
          </p:nvSpPr>
          <p:spPr>
            <a:xfrm>
              <a:off x="6401313" y="13276831"/>
              <a:ext cx="202579" cy="202597"/>
            </a:xfrm>
            <a:prstGeom prst="ellipse">
              <a:avLst/>
            </a:prstGeom>
            <a:solidFill>
              <a:srgbClr val="4A5A66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824B43A-3BD6-AE9E-BBE9-151586851536}"/>
                </a:ext>
              </a:extLst>
            </p:cNvPr>
            <p:cNvSpPr txBox="1"/>
            <p:nvPr/>
          </p:nvSpPr>
          <p:spPr>
            <a:xfrm>
              <a:off x="6381119" y="13273424"/>
              <a:ext cx="242968" cy="2121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638" b="1" spc="0" baseline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9</a:t>
              </a:r>
            </a:p>
          </p:txBody>
        </p:sp>
      </p:grp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F2F837D5-589D-9CD0-E1F6-D163F5297227}"/>
              </a:ext>
            </a:extLst>
          </p:cNvPr>
          <p:cNvSpPr/>
          <p:nvPr/>
        </p:nvSpPr>
        <p:spPr>
          <a:xfrm>
            <a:off x="1176518" y="1800114"/>
            <a:ext cx="4811262" cy="1181816"/>
          </a:xfrm>
          <a:prstGeom prst="roundRect">
            <a:avLst>
              <a:gd name="adj" fmla="val 8570"/>
            </a:avLst>
          </a:prstGeom>
          <a:solidFill>
            <a:srgbClr val="FFFFFF"/>
          </a:solidFill>
          <a:ln w="16881" cap="flat">
            <a:solidFill>
              <a:srgbClr val="E4E7EA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975C515C-68E1-E793-41C9-8539D74841B6}"/>
              </a:ext>
            </a:extLst>
          </p:cNvPr>
          <p:cNvSpPr/>
          <p:nvPr/>
        </p:nvSpPr>
        <p:spPr>
          <a:xfrm>
            <a:off x="1250560" y="1842989"/>
            <a:ext cx="59085" cy="1181816"/>
          </a:xfrm>
          <a:prstGeom prst="roundRect">
            <a:avLst>
              <a:gd name="adj" fmla="val 50000"/>
            </a:avLst>
          </a:prstGeom>
          <a:solidFill>
            <a:srgbClr val="14706E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F64517DA-7F52-FABD-1513-43DD1834B23C}"/>
              </a:ext>
            </a:extLst>
          </p:cNvPr>
          <p:cNvSpPr/>
          <p:nvPr/>
        </p:nvSpPr>
        <p:spPr>
          <a:xfrm>
            <a:off x="1353708" y="1813213"/>
            <a:ext cx="236342" cy="236363"/>
          </a:xfrm>
          <a:prstGeom prst="ellipse">
            <a:avLst/>
          </a:prstGeom>
          <a:solidFill>
            <a:srgbClr val="14706E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4213894D-B838-BFDB-1A12-3BFA8C42D568}"/>
              </a:ext>
            </a:extLst>
          </p:cNvPr>
          <p:cNvSpPr txBox="1"/>
          <p:nvPr/>
        </p:nvSpPr>
        <p:spPr>
          <a:xfrm>
            <a:off x="1350395" y="1830066"/>
            <a:ext cx="242967" cy="2121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638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F8F8F838-6CA2-321A-8DD3-C16AC31F01F6}"/>
              </a:ext>
            </a:extLst>
          </p:cNvPr>
          <p:cNvSpPr txBox="1"/>
          <p:nvPr/>
        </p:nvSpPr>
        <p:spPr>
          <a:xfrm>
            <a:off x="1616782" y="1792656"/>
            <a:ext cx="2666242" cy="2687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37" b="1" spc="0" baseline="0">
                <a:ln/>
                <a:solidFill>
                  <a:srgbClr val="14706E"/>
                </a:solidFill>
                <a:latin typeface="Arial"/>
                <a:cs typeface="Arial"/>
                <a:sym typeface="Arial"/>
                <a:rtl val="0"/>
              </a:rPr>
              <a:t>GIVE IT A ROLE, NAME THE JOB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43767E48-8312-E46B-0A36-7899605ED4A8}"/>
              </a:ext>
            </a:extLst>
          </p:cNvPr>
          <p:cNvSpPr txBox="1"/>
          <p:nvPr/>
        </p:nvSpPr>
        <p:spPr>
          <a:xfrm>
            <a:off x="1279149" y="2056601"/>
            <a:ext cx="3799701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Say who the model should be and exactly what to do —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BE51E7CA-6601-927A-E006-DECCC7F4BA63}"/>
              </a:ext>
            </a:extLst>
          </p:cNvPr>
          <p:cNvSpPr txBox="1"/>
          <p:nvPr/>
        </p:nvSpPr>
        <p:spPr>
          <a:xfrm>
            <a:off x="1279149" y="2230497"/>
            <a:ext cx="3350986" cy="25553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1301" spc="0" baseline="5940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and flag the input is a qualitative paper, not data.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D38A3AD-77BE-2A6F-D0C9-DF79D1D67C0C}"/>
              </a:ext>
            </a:extLst>
          </p:cNvPr>
          <p:cNvSpPr txBox="1"/>
          <p:nvPr/>
        </p:nvSpPr>
        <p:spPr>
          <a:xfrm>
            <a:off x="1279149" y="2428029"/>
            <a:ext cx="3439982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 dirty="0">
                <a:ln/>
                <a:solidFill>
                  <a:srgbClr val="6B7177"/>
                </a:solidFill>
                <a:latin typeface="Arial"/>
                <a:cs typeface="Arial"/>
                <a:sym typeface="Arial"/>
                <a:rtl val="0"/>
              </a:rPr>
              <a:t>Why: it then reads for meaning, not just keywords.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1DFB1A9A-333F-1440-1B21-F7465C424E97}"/>
              </a:ext>
            </a:extLst>
          </p:cNvPr>
          <p:cNvSpPr txBox="1"/>
          <p:nvPr/>
        </p:nvSpPr>
        <p:spPr>
          <a:xfrm>
            <a:off x="1279149" y="2622914"/>
            <a:ext cx="3849586" cy="244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08" b="1" spc="0" baseline="0">
                <a:ln/>
                <a:solidFill>
                  <a:srgbClr val="14706E"/>
                </a:solidFill>
                <a:latin typeface="Arial"/>
                <a:cs typeface="Arial"/>
                <a:sym typeface="Arial"/>
                <a:rtl val="0"/>
              </a:rPr>
              <a:t>Deeper: </a:t>
            </a:r>
            <a:r>
              <a:rPr lang="en-GB" sz="808" b="1" spc="0" baseline="0">
                <a:ln/>
                <a:solidFill>
                  <a:srgbClr val="8A9096"/>
                </a:solidFill>
                <a:latin typeface="Arial"/>
                <a:cs typeface="Arial"/>
                <a:sym typeface="Arial"/>
                <a:rtl val="0"/>
              </a:rPr>
              <a:t>a role sets the model's assumptions before it reads.</a:t>
            </a:r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C73D26FE-F84F-402D-E8EC-B1B6527975B2}"/>
              </a:ext>
            </a:extLst>
          </p:cNvPr>
          <p:cNvSpPr/>
          <p:nvPr/>
        </p:nvSpPr>
        <p:spPr>
          <a:xfrm>
            <a:off x="13349561" y="2421005"/>
            <a:ext cx="3300139" cy="1181816"/>
          </a:xfrm>
          <a:prstGeom prst="roundRect">
            <a:avLst>
              <a:gd name="adj" fmla="val 8570"/>
            </a:avLst>
          </a:prstGeom>
          <a:solidFill>
            <a:srgbClr val="FFFFFF"/>
          </a:solidFill>
          <a:ln w="16881" cap="flat">
            <a:solidFill>
              <a:srgbClr val="E4E7EA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392D0F29-402C-0BC0-D4BE-A578C6CB63FC}"/>
              </a:ext>
            </a:extLst>
          </p:cNvPr>
          <p:cNvSpPr/>
          <p:nvPr/>
        </p:nvSpPr>
        <p:spPr>
          <a:xfrm>
            <a:off x="13349561" y="2421005"/>
            <a:ext cx="59085" cy="1181816"/>
          </a:xfrm>
          <a:prstGeom prst="roundRect">
            <a:avLst>
              <a:gd name="adj" fmla="val 50000"/>
            </a:avLst>
          </a:prstGeom>
          <a:solidFill>
            <a:srgbClr val="3B4E9B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1FC4E710-DDB9-6B80-A32B-7E3F0333DD73}"/>
              </a:ext>
            </a:extLst>
          </p:cNvPr>
          <p:cNvSpPr/>
          <p:nvPr/>
        </p:nvSpPr>
        <p:spPr>
          <a:xfrm>
            <a:off x="13535259" y="2572952"/>
            <a:ext cx="236342" cy="236363"/>
          </a:xfrm>
          <a:prstGeom prst="ellipse">
            <a:avLst/>
          </a:prstGeom>
          <a:solidFill>
            <a:srgbClr val="3B4E9B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CF7285B-948A-FCEF-B9E7-2E84E39A7941}"/>
              </a:ext>
            </a:extLst>
          </p:cNvPr>
          <p:cNvSpPr txBox="1"/>
          <p:nvPr/>
        </p:nvSpPr>
        <p:spPr>
          <a:xfrm>
            <a:off x="13531947" y="2589805"/>
            <a:ext cx="242967" cy="2121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638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2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D7D1EFAD-C4AB-4634-730A-28A30B609617}"/>
              </a:ext>
            </a:extLst>
          </p:cNvPr>
          <p:cNvSpPr txBox="1"/>
          <p:nvPr/>
        </p:nvSpPr>
        <p:spPr>
          <a:xfrm>
            <a:off x="13798333" y="2552395"/>
            <a:ext cx="1863972" cy="2687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37" b="1" spc="0" baseline="0">
                <a:ln/>
                <a:solidFill>
                  <a:srgbClr val="3B4E9B"/>
                </a:solidFill>
                <a:latin typeface="Arial"/>
                <a:cs typeface="Arial"/>
                <a:sym typeface="Arial"/>
                <a:rtl val="0"/>
              </a:rPr>
              <a:t>DEFINE YOUR TERMS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CFF966F6-0421-23D2-228F-0432D9B20724}"/>
              </a:ext>
            </a:extLst>
          </p:cNvPr>
          <p:cNvSpPr txBox="1"/>
          <p:nvPr/>
        </p:nvSpPr>
        <p:spPr>
          <a:xfrm>
            <a:off x="13460701" y="2816340"/>
            <a:ext cx="3805723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Spell out what counts as a "claim" rather than assuming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E3533CF0-16C9-35BE-2F3F-7A9482E3E786}"/>
              </a:ext>
            </a:extLst>
          </p:cNvPr>
          <p:cNvSpPr txBox="1"/>
          <p:nvPr/>
        </p:nvSpPr>
        <p:spPr>
          <a:xfrm>
            <a:off x="13460701" y="2990236"/>
            <a:ext cx="2281014" cy="25553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1301" spc="0" baseline="5940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the model shares your meaning.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24353B3-12AF-5D97-EACD-824B1E2E96C5}"/>
              </a:ext>
            </a:extLst>
          </p:cNvPr>
          <p:cNvSpPr txBox="1"/>
          <p:nvPr/>
        </p:nvSpPr>
        <p:spPr>
          <a:xfrm>
            <a:off x="13460701" y="3187768"/>
            <a:ext cx="3285010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6B7177"/>
                </a:solidFill>
                <a:latin typeface="Arial"/>
                <a:cs typeface="Arial"/>
                <a:sym typeface="Arial"/>
                <a:rtl val="0"/>
              </a:rPr>
              <a:t>Why: shared definitions keep results consistent.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6ABF748A-6935-52BF-8296-57646563A5BF}"/>
              </a:ext>
            </a:extLst>
          </p:cNvPr>
          <p:cNvSpPr txBox="1"/>
          <p:nvPr/>
        </p:nvSpPr>
        <p:spPr>
          <a:xfrm>
            <a:off x="13460701" y="3382653"/>
            <a:ext cx="3846313" cy="244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08" b="1" spc="0" baseline="0">
                <a:ln/>
                <a:solidFill>
                  <a:srgbClr val="3B4E9B"/>
                </a:solidFill>
                <a:latin typeface="Arial"/>
                <a:cs typeface="Arial"/>
                <a:sym typeface="Arial"/>
                <a:rtl val="0"/>
              </a:rPr>
              <a:t>Deeper: </a:t>
            </a:r>
            <a:r>
              <a:rPr lang="en-GB" sz="808" b="1" spc="0" baseline="0">
                <a:ln/>
                <a:solidFill>
                  <a:srgbClr val="8A9096"/>
                </a:solidFill>
                <a:latin typeface="Arial"/>
                <a:cs typeface="Arial"/>
                <a:sym typeface="Arial"/>
                <a:rtl val="0"/>
              </a:rPr>
              <a:t>cheap calibration — it lifts model–coder agreement.</a:t>
            </a:r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1F8A7E4B-5113-F0AE-AD13-62E767B371C6}"/>
              </a:ext>
            </a:extLst>
          </p:cNvPr>
          <p:cNvSpPr/>
          <p:nvPr/>
        </p:nvSpPr>
        <p:spPr>
          <a:xfrm>
            <a:off x="1182644" y="3098969"/>
            <a:ext cx="4811262" cy="1181816"/>
          </a:xfrm>
          <a:prstGeom prst="roundRect">
            <a:avLst>
              <a:gd name="adj" fmla="val 8570"/>
            </a:avLst>
          </a:prstGeom>
          <a:solidFill>
            <a:srgbClr val="FFFFFF"/>
          </a:solidFill>
          <a:ln w="16881" cap="flat">
            <a:solidFill>
              <a:srgbClr val="E4E7EA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925D7670-8BC9-5AEB-AAAD-700113BD3A92}"/>
              </a:ext>
            </a:extLst>
          </p:cNvPr>
          <p:cNvSpPr/>
          <p:nvPr/>
        </p:nvSpPr>
        <p:spPr>
          <a:xfrm>
            <a:off x="1244055" y="3098969"/>
            <a:ext cx="59085" cy="1181816"/>
          </a:xfrm>
          <a:prstGeom prst="roundRect">
            <a:avLst>
              <a:gd name="adj" fmla="val 50000"/>
            </a:avLst>
          </a:prstGeom>
          <a:solidFill>
            <a:srgbClr val="B8761A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FB44B43E-8F0A-CE50-ABBD-6DC2C4B36F0E}"/>
              </a:ext>
            </a:extLst>
          </p:cNvPr>
          <p:cNvSpPr/>
          <p:nvPr/>
        </p:nvSpPr>
        <p:spPr>
          <a:xfrm>
            <a:off x="1353708" y="3113211"/>
            <a:ext cx="236342" cy="236363"/>
          </a:xfrm>
          <a:prstGeom prst="ellipse">
            <a:avLst/>
          </a:prstGeom>
          <a:solidFill>
            <a:srgbClr val="B8761A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8C8653F8-2C28-C675-58DE-FCC67A6A6244}"/>
              </a:ext>
            </a:extLst>
          </p:cNvPr>
          <p:cNvSpPr txBox="1"/>
          <p:nvPr/>
        </p:nvSpPr>
        <p:spPr>
          <a:xfrm>
            <a:off x="1350395" y="3130064"/>
            <a:ext cx="242967" cy="2121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638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3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655FF65B-B7D8-1D1D-80E2-A2556DF0199E}"/>
              </a:ext>
            </a:extLst>
          </p:cNvPr>
          <p:cNvSpPr txBox="1"/>
          <p:nvPr/>
        </p:nvSpPr>
        <p:spPr>
          <a:xfrm>
            <a:off x="1616782" y="3092654"/>
            <a:ext cx="1890240" cy="2687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37" b="1" spc="0" baseline="0">
                <a:ln/>
                <a:solidFill>
                  <a:srgbClr val="9A6314"/>
                </a:solidFill>
                <a:latin typeface="Arial"/>
                <a:cs typeface="Arial"/>
                <a:sym typeface="Arial"/>
                <a:rtl val="0"/>
              </a:rPr>
              <a:t>OFFER A FIXED MENU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6979CA3F-22A5-6B3F-C648-DE7252E17EE7}"/>
              </a:ext>
            </a:extLst>
          </p:cNvPr>
          <p:cNvSpPr txBox="1"/>
          <p:nvPr/>
        </p:nvSpPr>
        <p:spPr>
          <a:xfrm>
            <a:off x="1279149" y="3356599"/>
            <a:ext cx="3586710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Give a closed list of claim types to pick from, instead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2B83B2B3-BFEE-6404-017D-0BBD71FD619A}"/>
              </a:ext>
            </a:extLst>
          </p:cNvPr>
          <p:cNvSpPr txBox="1"/>
          <p:nvPr/>
        </p:nvSpPr>
        <p:spPr>
          <a:xfrm>
            <a:off x="1279149" y="3530495"/>
            <a:ext cx="1391116" cy="25553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1301" spc="0" baseline="5940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of free description.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829F07D1-30DE-7B6C-5363-FEEAA52D4B0B}"/>
              </a:ext>
            </a:extLst>
          </p:cNvPr>
          <p:cNvSpPr txBox="1"/>
          <p:nvPr/>
        </p:nvSpPr>
        <p:spPr>
          <a:xfrm>
            <a:off x="1279149" y="3728027"/>
            <a:ext cx="3072879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6B7177"/>
                </a:solidFill>
                <a:latin typeface="Arial"/>
                <a:cs typeface="Arial"/>
                <a:sym typeface="Arial"/>
                <a:rtl val="0"/>
              </a:rPr>
              <a:t>Why: fixed sets turn text into countable data.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88AAA1C6-5FB8-328F-AFF7-6C56530FDBE4}"/>
              </a:ext>
            </a:extLst>
          </p:cNvPr>
          <p:cNvSpPr txBox="1"/>
          <p:nvPr/>
        </p:nvSpPr>
        <p:spPr>
          <a:xfrm>
            <a:off x="1279149" y="3922911"/>
            <a:ext cx="3846448" cy="244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08" b="1" spc="0" baseline="0">
                <a:ln/>
                <a:solidFill>
                  <a:srgbClr val="9A6314"/>
                </a:solidFill>
                <a:latin typeface="Arial"/>
                <a:cs typeface="Arial"/>
                <a:sym typeface="Arial"/>
                <a:rtl val="0"/>
              </a:rPr>
              <a:t>Deeper: </a:t>
            </a:r>
            <a:r>
              <a:rPr lang="en-GB" sz="808" b="1" spc="0" baseline="0">
                <a:ln/>
                <a:solidFill>
                  <a:srgbClr val="8A9096"/>
                </a:solidFill>
                <a:latin typeface="Arial"/>
                <a:cs typeface="Arial"/>
                <a:sym typeface="Arial"/>
                <a:rtl val="0"/>
              </a:rPr>
              <a:t>a controlled vocabulary makes outputs computable.</a:t>
            </a:r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1D496F79-436F-AA6E-2ED8-069525C7D839}"/>
              </a:ext>
            </a:extLst>
          </p:cNvPr>
          <p:cNvSpPr/>
          <p:nvPr/>
        </p:nvSpPr>
        <p:spPr>
          <a:xfrm>
            <a:off x="13349561" y="3923599"/>
            <a:ext cx="3338239" cy="1181816"/>
          </a:xfrm>
          <a:prstGeom prst="roundRect">
            <a:avLst>
              <a:gd name="adj" fmla="val 8570"/>
            </a:avLst>
          </a:prstGeom>
          <a:solidFill>
            <a:srgbClr val="FFFFFF"/>
          </a:solidFill>
          <a:ln w="16881" cap="flat">
            <a:solidFill>
              <a:srgbClr val="E4E7EA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CA30B634-894D-0F00-1B2D-E8402BC67379}"/>
              </a:ext>
            </a:extLst>
          </p:cNvPr>
          <p:cNvSpPr/>
          <p:nvPr/>
        </p:nvSpPr>
        <p:spPr>
          <a:xfrm>
            <a:off x="13349561" y="3923599"/>
            <a:ext cx="59085" cy="1181816"/>
          </a:xfrm>
          <a:prstGeom prst="roundRect">
            <a:avLst>
              <a:gd name="adj" fmla="val 50000"/>
            </a:avLst>
          </a:prstGeom>
          <a:solidFill>
            <a:srgbClr val="9C2C57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1461FC3F-4BE7-19DE-189A-F033AE542524}"/>
              </a:ext>
            </a:extLst>
          </p:cNvPr>
          <p:cNvSpPr/>
          <p:nvPr/>
        </p:nvSpPr>
        <p:spPr>
          <a:xfrm>
            <a:off x="13535259" y="4075547"/>
            <a:ext cx="236342" cy="236363"/>
          </a:xfrm>
          <a:prstGeom prst="ellipse">
            <a:avLst/>
          </a:prstGeom>
          <a:solidFill>
            <a:srgbClr val="9C2C57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E0FA246A-6774-03B8-3C66-6F82B33072CC}"/>
              </a:ext>
            </a:extLst>
          </p:cNvPr>
          <p:cNvSpPr txBox="1"/>
          <p:nvPr/>
        </p:nvSpPr>
        <p:spPr>
          <a:xfrm>
            <a:off x="13531947" y="4092400"/>
            <a:ext cx="242967" cy="2121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638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4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0C1F9BAE-86A1-2183-8A06-BB986F9C56D9}"/>
              </a:ext>
            </a:extLst>
          </p:cNvPr>
          <p:cNvSpPr txBox="1"/>
          <p:nvPr/>
        </p:nvSpPr>
        <p:spPr>
          <a:xfrm>
            <a:off x="13798333" y="4054990"/>
            <a:ext cx="1699242" cy="2687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37" b="1" spc="0" baseline="0">
                <a:ln/>
                <a:solidFill>
                  <a:srgbClr val="9C2C57"/>
                </a:solidFill>
                <a:latin typeface="Arial"/>
                <a:cs typeface="Arial"/>
                <a:sym typeface="Arial"/>
                <a:rtl val="0"/>
              </a:rPr>
              <a:t>FORBID INVENTING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79DAF62F-3208-98A6-C494-27F4EB1BCBEF}"/>
              </a:ext>
            </a:extLst>
          </p:cNvPr>
          <p:cNvSpPr txBox="1"/>
          <p:nvPr/>
        </p:nvSpPr>
        <p:spPr>
          <a:xfrm>
            <a:off x="13460701" y="4318935"/>
            <a:ext cx="3661147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Say when to leave a field blank, and ban making up a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8292CF70-BFAA-12CD-0C2D-C93265C19D51}"/>
              </a:ext>
            </a:extLst>
          </p:cNvPr>
          <p:cNvSpPr txBox="1"/>
          <p:nvPr/>
        </p:nvSpPr>
        <p:spPr>
          <a:xfrm>
            <a:off x="13460701" y="4492831"/>
            <a:ext cx="1402806" cy="25553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1301" spc="0" baseline="5940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link that isn't there.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E04B7FB9-7F4A-5357-3B6E-9BC0A4B56B74}"/>
              </a:ext>
            </a:extLst>
          </p:cNvPr>
          <p:cNvSpPr txBox="1"/>
          <p:nvPr/>
        </p:nvSpPr>
        <p:spPr>
          <a:xfrm>
            <a:off x="13460701" y="4690363"/>
            <a:ext cx="3758464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6B7177"/>
                </a:solidFill>
                <a:latin typeface="Arial"/>
                <a:cs typeface="Arial"/>
                <a:sym typeface="Arial"/>
                <a:rtl val="0"/>
              </a:rPr>
              <a:t>Why: limits are your defence against made-up findings.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2CA5F035-D6DA-97B3-D287-EDEB3C59E6B4}"/>
              </a:ext>
            </a:extLst>
          </p:cNvPr>
          <p:cNvSpPr txBox="1"/>
          <p:nvPr/>
        </p:nvSpPr>
        <p:spPr>
          <a:xfrm>
            <a:off x="13460701" y="4885248"/>
            <a:ext cx="3636861" cy="244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08" b="1" spc="0" baseline="0">
                <a:ln/>
                <a:solidFill>
                  <a:srgbClr val="9C2C57"/>
                </a:solidFill>
                <a:latin typeface="Arial"/>
                <a:cs typeface="Arial"/>
                <a:sym typeface="Arial"/>
                <a:rtl val="0"/>
              </a:rPr>
              <a:t>Deeper: </a:t>
            </a:r>
            <a:r>
              <a:rPr lang="en-GB" sz="808" b="1" spc="0" baseline="0">
                <a:ln/>
                <a:solidFill>
                  <a:srgbClr val="8A9096"/>
                </a:solidFill>
                <a:latin typeface="Arial"/>
                <a:cs typeface="Arial"/>
                <a:sym typeface="Arial"/>
                <a:rtl val="0"/>
              </a:rPr>
              <a:t>also catch polarity flips — "X does not cause Y".</a:t>
            </a:r>
          </a:p>
        </p:txBody>
      </p: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DAE415AF-07F0-1FC2-FEA8-861983844498}"/>
              </a:ext>
            </a:extLst>
          </p:cNvPr>
          <p:cNvSpPr/>
          <p:nvPr/>
        </p:nvSpPr>
        <p:spPr>
          <a:xfrm>
            <a:off x="1168010" y="5443078"/>
            <a:ext cx="4811262" cy="1181816"/>
          </a:xfrm>
          <a:prstGeom prst="roundRect">
            <a:avLst>
              <a:gd name="adj" fmla="val 8570"/>
            </a:avLst>
          </a:prstGeom>
          <a:solidFill>
            <a:srgbClr val="FFFFFF"/>
          </a:solidFill>
          <a:ln w="16881" cap="flat">
            <a:solidFill>
              <a:srgbClr val="E4E7EA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607AF4A6-42E2-42DC-EFAD-C8155A741917}"/>
              </a:ext>
            </a:extLst>
          </p:cNvPr>
          <p:cNvSpPr/>
          <p:nvPr/>
        </p:nvSpPr>
        <p:spPr>
          <a:xfrm>
            <a:off x="1168010" y="5443078"/>
            <a:ext cx="59085" cy="1181816"/>
          </a:xfrm>
          <a:prstGeom prst="roundRect">
            <a:avLst>
              <a:gd name="adj" fmla="val 50000"/>
            </a:avLst>
          </a:prstGeom>
          <a:solidFill>
            <a:srgbClr val="2E7D55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24AB66C8-3E09-FDFE-05AD-820FD8180382}"/>
              </a:ext>
            </a:extLst>
          </p:cNvPr>
          <p:cNvSpPr/>
          <p:nvPr/>
        </p:nvSpPr>
        <p:spPr>
          <a:xfrm>
            <a:off x="1353708" y="5595025"/>
            <a:ext cx="236342" cy="236363"/>
          </a:xfrm>
          <a:prstGeom prst="ellipse">
            <a:avLst/>
          </a:prstGeom>
          <a:solidFill>
            <a:srgbClr val="2E7D55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E8AE5B38-ACF7-94CC-D97F-F0BF2705E784}"/>
              </a:ext>
            </a:extLst>
          </p:cNvPr>
          <p:cNvSpPr txBox="1"/>
          <p:nvPr/>
        </p:nvSpPr>
        <p:spPr>
          <a:xfrm>
            <a:off x="1350395" y="5611878"/>
            <a:ext cx="242967" cy="212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638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5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4D8EC16B-D9F8-F921-208E-AA8BE7A29262}"/>
              </a:ext>
            </a:extLst>
          </p:cNvPr>
          <p:cNvSpPr txBox="1"/>
          <p:nvPr/>
        </p:nvSpPr>
        <p:spPr>
          <a:xfrm>
            <a:off x="1616782" y="5574468"/>
            <a:ext cx="2580622" cy="268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37" b="1" spc="0" baseline="0">
                <a:ln/>
                <a:solidFill>
                  <a:srgbClr val="236343"/>
                </a:solidFill>
                <a:latin typeface="Arial"/>
                <a:cs typeface="Arial"/>
                <a:sym typeface="Arial"/>
                <a:rtl val="0"/>
              </a:rPr>
              <a:t>TRACK WHERE IT CAME FROM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9BF9E14-005C-2F67-25F1-543D987B34F2}"/>
              </a:ext>
            </a:extLst>
          </p:cNvPr>
          <p:cNvSpPr txBox="1"/>
          <p:nvPr/>
        </p:nvSpPr>
        <p:spPr>
          <a:xfrm>
            <a:off x="1279149" y="5838413"/>
            <a:ext cx="3647666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Separate the author's own claim from views they only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DA669338-EB78-8323-50F6-07F549BCAB64}"/>
              </a:ext>
            </a:extLst>
          </p:cNvPr>
          <p:cNvSpPr txBox="1"/>
          <p:nvPr/>
        </p:nvSpPr>
        <p:spPr>
          <a:xfrm>
            <a:off x="1279149" y="6012309"/>
            <a:ext cx="1154029" cy="25553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1301" spc="0" baseline="5940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cite or criticise.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F57445CA-FE78-01C0-0296-D0C41B879A22}"/>
              </a:ext>
            </a:extLst>
          </p:cNvPr>
          <p:cNvSpPr txBox="1"/>
          <p:nvPr/>
        </p:nvSpPr>
        <p:spPr>
          <a:xfrm>
            <a:off x="1279149" y="6209841"/>
            <a:ext cx="3007189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6B7177"/>
                </a:solidFill>
                <a:latin typeface="Arial"/>
                <a:cs typeface="Arial"/>
                <a:sym typeface="Arial"/>
                <a:rtl val="0"/>
              </a:rPr>
              <a:t>Why: who-said-what is basic accountability.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64E9FF29-C1E4-5555-7AD9-DB1C875963C9}"/>
              </a:ext>
            </a:extLst>
          </p:cNvPr>
          <p:cNvSpPr txBox="1"/>
          <p:nvPr/>
        </p:nvSpPr>
        <p:spPr>
          <a:xfrm>
            <a:off x="1279149" y="6404726"/>
            <a:ext cx="3215355" cy="244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08" b="1" spc="0" baseline="0">
                <a:ln/>
                <a:solidFill>
                  <a:srgbClr val="236343"/>
                </a:solidFill>
                <a:latin typeface="Arial"/>
                <a:cs typeface="Arial"/>
                <a:sym typeface="Arial"/>
                <a:rtl val="0"/>
              </a:rPr>
              <a:t>Deeper: </a:t>
            </a:r>
            <a:r>
              <a:rPr lang="en-GB" sz="808" b="1" spc="0" baseline="0">
                <a:ln/>
                <a:solidFill>
                  <a:srgbClr val="8A9096"/>
                </a:solidFill>
                <a:latin typeface="Arial"/>
                <a:cs typeface="Arial"/>
                <a:sym typeface="Arial"/>
                <a:rtl val="0"/>
              </a:rPr>
              <a:t>stops over-extraction inflating the results.</a:t>
            </a:r>
          </a:p>
        </p:txBody>
      </p: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4467658F-DDEC-DC4B-1345-94DA0E0F45B3}"/>
              </a:ext>
            </a:extLst>
          </p:cNvPr>
          <p:cNvSpPr/>
          <p:nvPr/>
        </p:nvSpPr>
        <p:spPr>
          <a:xfrm>
            <a:off x="13349561" y="6304115"/>
            <a:ext cx="3338239" cy="1181816"/>
          </a:xfrm>
          <a:prstGeom prst="roundRect">
            <a:avLst>
              <a:gd name="adj" fmla="val 8570"/>
            </a:avLst>
          </a:prstGeom>
          <a:solidFill>
            <a:srgbClr val="FFFFFF"/>
          </a:solidFill>
          <a:ln w="16881" cap="flat">
            <a:solidFill>
              <a:srgbClr val="E4E7EA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09" name="Rectangle: Rounded Corners 208">
            <a:extLst>
              <a:ext uri="{FF2B5EF4-FFF2-40B4-BE49-F238E27FC236}">
                <a16:creationId xmlns:a16="http://schemas.microsoft.com/office/drawing/2014/main" id="{0B29156B-E78F-05EB-EE9D-7DA207A9D498}"/>
              </a:ext>
            </a:extLst>
          </p:cNvPr>
          <p:cNvSpPr/>
          <p:nvPr/>
        </p:nvSpPr>
        <p:spPr>
          <a:xfrm>
            <a:off x="13349561" y="6304115"/>
            <a:ext cx="59085" cy="1181816"/>
          </a:xfrm>
          <a:prstGeom prst="roundRect">
            <a:avLst>
              <a:gd name="adj" fmla="val 50000"/>
            </a:avLst>
          </a:prstGeom>
          <a:solidFill>
            <a:srgbClr val="1F6E8C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0908EF43-E417-E2A8-E202-CC15E17B132D}"/>
              </a:ext>
            </a:extLst>
          </p:cNvPr>
          <p:cNvSpPr/>
          <p:nvPr/>
        </p:nvSpPr>
        <p:spPr>
          <a:xfrm>
            <a:off x="13535259" y="6456063"/>
            <a:ext cx="236342" cy="236363"/>
          </a:xfrm>
          <a:prstGeom prst="ellipse">
            <a:avLst/>
          </a:prstGeom>
          <a:solidFill>
            <a:srgbClr val="1F6E8C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01886835-CE55-E26D-89EC-878D5517D1EA}"/>
              </a:ext>
            </a:extLst>
          </p:cNvPr>
          <p:cNvSpPr txBox="1"/>
          <p:nvPr/>
        </p:nvSpPr>
        <p:spPr>
          <a:xfrm>
            <a:off x="13531947" y="6472916"/>
            <a:ext cx="242967" cy="212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638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6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BFD38BC2-491B-80A0-E581-92D6623C2366}"/>
              </a:ext>
            </a:extLst>
          </p:cNvPr>
          <p:cNvSpPr txBox="1"/>
          <p:nvPr/>
        </p:nvSpPr>
        <p:spPr>
          <a:xfrm>
            <a:off x="13798333" y="6435506"/>
            <a:ext cx="1493444" cy="268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37" b="1" spc="0" baseline="0">
                <a:ln/>
                <a:solidFill>
                  <a:srgbClr val="1F6E8C"/>
                </a:solidFill>
                <a:latin typeface="Arial"/>
                <a:cs typeface="Arial"/>
                <a:sym typeface="Arial"/>
                <a:rtl val="0"/>
              </a:rPr>
              <a:t>TAG FOR REACH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E35A26A6-8F43-2A32-7478-52C1970975C4}"/>
              </a:ext>
            </a:extLst>
          </p:cNvPr>
          <p:cNvSpPr txBox="1"/>
          <p:nvPr/>
        </p:nvSpPr>
        <p:spPr>
          <a:xfrm>
            <a:off x="13460701" y="6699451"/>
            <a:ext cx="3521808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Label each claim with the disciplines and real-world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67E77D6F-12B5-47CC-A335-E72F84D2CF49}"/>
              </a:ext>
            </a:extLst>
          </p:cNvPr>
          <p:cNvSpPr txBox="1"/>
          <p:nvPr/>
        </p:nvSpPr>
        <p:spPr>
          <a:xfrm>
            <a:off x="13460701" y="6873347"/>
            <a:ext cx="1333888" cy="25553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1301" spc="0" baseline="5940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factors it touches.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732969A-3032-0B7F-C1E7-23AF1568A646}"/>
              </a:ext>
            </a:extLst>
          </p:cNvPr>
          <p:cNvSpPr txBox="1"/>
          <p:nvPr/>
        </p:nvSpPr>
        <p:spPr>
          <a:xfrm>
            <a:off x="13460701" y="7070879"/>
            <a:ext cx="3358300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6B7177"/>
                </a:solidFill>
                <a:latin typeface="Arial"/>
                <a:cs typeface="Arial"/>
                <a:sym typeface="Arial"/>
                <a:rtl val="0"/>
              </a:rPr>
              <a:t>Why: it stitches fields that rarely read each other.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35D2595-C639-F9ED-4D15-D1D0F6B9C297}"/>
              </a:ext>
            </a:extLst>
          </p:cNvPr>
          <p:cNvSpPr txBox="1"/>
          <p:nvPr/>
        </p:nvSpPr>
        <p:spPr>
          <a:xfrm>
            <a:off x="13460701" y="7265763"/>
            <a:ext cx="3854194" cy="244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08" b="1" spc="0" baseline="0">
                <a:ln/>
                <a:solidFill>
                  <a:srgbClr val="1F6E8C"/>
                </a:solidFill>
                <a:latin typeface="Arial"/>
                <a:cs typeface="Arial"/>
                <a:sym typeface="Arial"/>
                <a:rtl val="0"/>
              </a:rPr>
              <a:t>Deeper: </a:t>
            </a:r>
            <a:r>
              <a:rPr lang="en-GB" sz="808" b="1" spc="0" baseline="0">
                <a:ln/>
                <a:solidFill>
                  <a:srgbClr val="8A9096"/>
                </a:solidFill>
                <a:latin typeface="Arial"/>
                <a:cs typeface="Arial"/>
                <a:sym typeface="Arial"/>
                <a:rtl val="0"/>
              </a:rPr>
              <a:t>makes the corpus queryable; feeds hypothesis gen.</a:t>
            </a: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C28A824E-7172-C0DE-6475-B013188D1C9F}"/>
              </a:ext>
            </a:extLst>
          </p:cNvPr>
          <p:cNvSpPr/>
          <p:nvPr/>
        </p:nvSpPr>
        <p:spPr>
          <a:xfrm>
            <a:off x="1168010" y="8144372"/>
            <a:ext cx="4811262" cy="979219"/>
          </a:xfrm>
          <a:prstGeom prst="roundRect">
            <a:avLst>
              <a:gd name="adj" fmla="val 10343"/>
            </a:avLst>
          </a:prstGeom>
          <a:solidFill>
            <a:srgbClr val="FFFFFF"/>
          </a:solidFill>
          <a:ln w="16881" cap="flat">
            <a:solidFill>
              <a:srgbClr val="E4E7EA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C92E59F7-62B1-A76F-215B-CAAA4AB2EEFD}"/>
              </a:ext>
            </a:extLst>
          </p:cNvPr>
          <p:cNvSpPr/>
          <p:nvPr/>
        </p:nvSpPr>
        <p:spPr>
          <a:xfrm>
            <a:off x="1168010" y="8144372"/>
            <a:ext cx="59085" cy="979219"/>
          </a:xfrm>
          <a:prstGeom prst="roundRect">
            <a:avLst>
              <a:gd name="adj" fmla="val 50000"/>
            </a:avLst>
          </a:prstGeom>
          <a:solidFill>
            <a:srgbClr val="A23E2A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FC3FF11E-90AE-D653-592F-FED46CF93A59}"/>
              </a:ext>
            </a:extLst>
          </p:cNvPr>
          <p:cNvSpPr/>
          <p:nvPr/>
        </p:nvSpPr>
        <p:spPr>
          <a:xfrm>
            <a:off x="1353708" y="8296320"/>
            <a:ext cx="236342" cy="236363"/>
          </a:xfrm>
          <a:prstGeom prst="ellipse">
            <a:avLst/>
          </a:prstGeom>
          <a:solidFill>
            <a:srgbClr val="A23E2A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7E5A7C66-07ED-433F-88D9-7CA795BFA05E}"/>
              </a:ext>
            </a:extLst>
          </p:cNvPr>
          <p:cNvSpPr txBox="1"/>
          <p:nvPr/>
        </p:nvSpPr>
        <p:spPr>
          <a:xfrm>
            <a:off x="1350395" y="8313172"/>
            <a:ext cx="242967" cy="212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638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7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664B2D0-D247-9AE1-2082-94806F79325E}"/>
              </a:ext>
            </a:extLst>
          </p:cNvPr>
          <p:cNvSpPr txBox="1"/>
          <p:nvPr/>
        </p:nvSpPr>
        <p:spPr>
          <a:xfrm>
            <a:off x="1616782" y="8275762"/>
            <a:ext cx="2465868" cy="268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37" b="1" spc="0" baseline="0">
                <a:ln/>
                <a:solidFill>
                  <a:srgbClr val="A23E2A"/>
                </a:solidFill>
                <a:latin typeface="Arial"/>
                <a:cs typeface="Arial"/>
                <a:sym typeface="Arial"/>
                <a:rtl val="0"/>
              </a:rPr>
              <a:t>QUOTE, DON'T PARAPHRASE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BA162C6C-13E3-6684-3A5F-1F3C8C30E529}"/>
              </a:ext>
            </a:extLst>
          </p:cNvPr>
          <p:cNvSpPr txBox="1"/>
          <p:nvPr/>
        </p:nvSpPr>
        <p:spPr>
          <a:xfrm>
            <a:off x="1279149" y="8539708"/>
            <a:ext cx="3113325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Copy wording exactly; never tidy or reword it.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10AEFAB0-2797-7798-4D1A-801BCD73A9DE}"/>
              </a:ext>
            </a:extLst>
          </p:cNvPr>
          <p:cNvSpPr txBox="1"/>
          <p:nvPr/>
        </p:nvSpPr>
        <p:spPr>
          <a:xfrm>
            <a:off x="1279149" y="8725422"/>
            <a:ext cx="3644224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6B7177"/>
                </a:solidFill>
                <a:latin typeface="Arial"/>
                <a:cs typeface="Arial"/>
                <a:sym typeface="Arial"/>
                <a:rtl val="0"/>
              </a:rPr>
              <a:t>Why: verbatim can be checked — evidence, not spin.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D48178F4-1482-6F54-24F7-5B421AA4D03C}"/>
              </a:ext>
            </a:extLst>
          </p:cNvPr>
          <p:cNvSpPr txBox="1"/>
          <p:nvPr/>
        </p:nvSpPr>
        <p:spPr>
          <a:xfrm>
            <a:off x="1279149" y="8920306"/>
            <a:ext cx="3557609" cy="244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08" b="1" spc="0" baseline="0">
                <a:ln/>
                <a:solidFill>
                  <a:srgbClr val="A23E2A"/>
                </a:solidFill>
                <a:latin typeface="Arial"/>
                <a:cs typeface="Arial"/>
                <a:sym typeface="Arial"/>
                <a:rtl val="0"/>
              </a:rPr>
              <a:t>Deeper: </a:t>
            </a:r>
            <a:r>
              <a:rPr lang="en-GB" sz="808" b="1" spc="0" baseline="0">
                <a:ln/>
                <a:solidFill>
                  <a:srgbClr val="8A9096"/>
                </a:solidFill>
                <a:latin typeface="Arial"/>
                <a:cs typeface="Arial"/>
                <a:sym typeface="Arial"/>
                <a:rtl val="0"/>
              </a:rPr>
              <a:t>paraphrase breaks automated string matching.</a:t>
            </a:r>
          </a:p>
        </p:txBody>
      </p:sp>
      <p:sp>
        <p:nvSpPr>
          <p:cNvPr id="225" name="Rectangle: Rounded Corners 224">
            <a:extLst>
              <a:ext uri="{FF2B5EF4-FFF2-40B4-BE49-F238E27FC236}">
                <a16:creationId xmlns:a16="http://schemas.microsoft.com/office/drawing/2014/main" id="{D1822A57-E6B2-E997-E2CA-EB7F63959A98}"/>
              </a:ext>
            </a:extLst>
          </p:cNvPr>
          <p:cNvSpPr/>
          <p:nvPr/>
        </p:nvSpPr>
        <p:spPr>
          <a:xfrm>
            <a:off x="13364279" y="8376745"/>
            <a:ext cx="3348922" cy="1181816"/>
          </a:xfrm>
          <a:prstGeom prst="roundRect">
            <a:avLst>
              <a:gd name="adj" fmla="val 8570"/>
            </a:avLst>
          </a:prstGeom>
          <a:solidFill>
            <a:srgbClr val="FFFFFF"/>
          </a:solidFill>
          <a:ln w="16881" cap="flat">
            <a:solidFill>
              <a:srgbClr val="E4E7EA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26" name="Rectangle: Rounded Corners 225">
            <a:extLst>
              <a:ext uri="{FF2B5EF4-FFF2-40B4-BE49-F238E27FC236}">
                <a16:creationId xmlns:a16="http://schemas.microsoft.com/office/drawing/2014/main" id="{87D6A6E8-13CF-7C33-F437-9C1F732ADFED}"/>
              </a:ext>
            </a:extLst>
          </p:cNvPr>
          <p:cNvSpPr/>
          <p:nvPr/>
        </p:nvSpPr>
        <p:spPr>
          <a:xfrm>
            <a:off x="13349561" y="8363852"/>
            <a:ext cx="59085" cy="1181816"/>
          </a:xfrm>
          <a:prstGeom prst="roundRect">
            <a:avLst>
              <a:gd name="adj" fmla="val 50000"/>
            </a:avLst>
          </a:prstGeom>
          <a:solidFill>
            <a:srgbClr val="6A4A9C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B774F918-B461-E377-0B62-2E5E8635574B}"/>
              </a:ext>
            </a:extLst>
          </p:cNvPr>
          <p:cNvSpPr/>
          <p:nvPr/>
        </p:nvSpPr>
        <p:spPr>
          <a:xfrm>
            <a:off x="13535259" y="8515800"/>
            <a:ext cx="236342" cy="236363"/>
          </a:xfrm>
          <a:prstGeom prst="ellipse">
            <a:avLst/>
          </a:prstGeom>
          <a:solidFill>
            <a:srgbClr val="6A4A9C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B6EAAF16-D540-48FB-713A-FA00D80CCC90}"/>
              </a:ext>
            </a:extLst>
          </p:cNvPr>
          <p:cNvSpPr txBox="1"/>
          <p:nvPr/>
        </p:nvSpPr>
        <p:spPr>
          <a:xfrm>
            <a:off x="13531947" y="8532652"/>
            <a:ext cx="242967" cy="212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638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8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A21147AE-DC79-FAE2-A074-E8C9B47092DE}"/>
              </a:ext>
            </a:extLst>
          </p:cNvPr>
          <p:cNvSpPr txBox="1"/>
          <p:nvPr/>
        </p:nvSpPr>
        <p:spPr>
          <a:xfrm>
            <a:off x="13798333" y="8495243"/>
            <a:ext cx="1634697" cy="268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37" b="1" spc="0" baseline="0">
                <a:ln/>
                <a:solidFill>
                  <a:srgbClr val="6A4A9C"/>
                </a:solidFill>
                <a:latin typeface="Arial"/>
                <a:cs typeface="Arial"/>
                <a:sym typeface="Arial"/>
                <a:rtl val="0"/>
              </a:rPr>
              <a:t>ASK FOR A SHAPE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6CC2381F-5D5A-7C42-5EB0-4ED63A3B7449}"/>
              </a:ext>
            </a:extLst>
          </p:cNvPr>
          <p:cNvSpPr txBox="1"/>
          <p:nvPr/>
        </p:nvSpPr>
        <p:spPr>
          <a:xfrm>
            <a:off x="13460701" y="8759188"/>
            <a:ext cx="3063659" cy="225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 dirty="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Demands the answer as JSON: a fixed, machine-readable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8A64A01D-7F71-3901-12EE-186A4DD8E73C}"/>
              </a:ext>
            </a:extLst>
          </p:cNvPr>
          <p:cNvSpPr txBox="1"/>
          <p:nvPr/>
        </p:nvSpPr>
        <p:spPr>
          <a:xfrm>
            <a:off x="13460701" y="8933084"/>
            <a:ext cx="1815447" cy="25553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1301" spc="0" baseline="5940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format with named fields.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D251FA89-DC08-E1CE-B254-2FF3C69A1DC8}"/>
              </a:ext>
            </a:extLst>
          </p:cNvPr>
          <p:cNvSpPr txBox="1"/>
          <p:nvPr/>
        </p:nvSpPr>
        <p:spPr>
          <a:xfrm>
            <a:off x="13460701" y="9130616"/>
            <a:ext cx="4069202" cy="25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6B7177"/>
                </a:solidFill>
                <a:latin typeface="Arial"/>
                <a:cs typeface="Arial"/>
                <a:sym typeface="Arial"/>
                <a:rtl val="0"/>
              </a:rPr>
              <a:t>Why: one shape lets many papers run through one pipeline.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A9789C10-4673-1ADD-8340-27525EC12E1D}"/>
              </a:ext>
            </a:extLst>
          </p:cNvPr>
          <p:cNvSpPr txBox="1"/>
          <p:nvPr/>
        </p:nvSpPr>
        <p:spPr>
          <a:xfrm>
            <a:off x="13460701" y="9325500"/>
            <a:ext cx="4032265" cy="244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08" b="1" spc="0" baseline="0">
                <a:ln/>
                <a:solidFill>
                  <a:srgbClr val="6A4A9C"/>
                </a:solidFill>
                <a:latin typeface="Arial"/>
                <a:cs typeface="Arial"/>
                <a:sym typeface="Arial"/>
                <a:rtl val="0"/>
              </a:rPr>
              <a:t>Deeper: </a:t>
            </a:r>
            <a:r>
              <a:rPr lang="en-GB" sz="808" b="1" spc="0" baseline="0">
                <a:ln/>
                <a:solidFill>
                  <a:srgbClr val="8A9096"/>
                </a:solidFill>
                <a:latin typeface="Arial"/>
                <a:cs typeface="Arial"/>
                <a:sym typeface="Arial"/>
                <a:rtl val="0"/>
              </a:rPr>
              <a:t>keep schema changes additive so parsers don't break.</a:t>
            </a:r>
          </a:p>
        </p:txBody>
      </p:sp>
      <p:sp>
        <p:nvSpPr>
          <p:cNvPr id="234" name="Rectangle: Rounded Corners 233">
            <a:extLst>
              <a:ext uri="{FF2B5EF4-FFF2-40B4-BE49-F238E27FC236}">
                <a16:creationId xmlns:a16="http://schemas.microsoft.com/office/drawing/2014/main" id="{010955D6-957A-0418-C634-0886ACAD2A5A}"/>
              </a:ext>
            </a:extLst>
          </p:cNvPr>
          <p:cNvSpPr/>
          <p:nvPr/>
        </p:nvSpPr>
        <p:spPr>
          <a:xfrm>
            <a:off x="1168010" y="13006701"/>
            <a:ext cx="4811262" cy="1080517"/>
          </a:xfrm>
          <a:prstGeom prst="roundRect">
            <a:avLst>
              <a:gd name="adj" fmla="val 9374"/>
            </a:avLst>
          </a:prstGeom>
          <a:solidFill>
            <a:srgbClr val="FFFFFF"/>
          </a:solidFill>
          <a:ln w="16881" cap="flat">
            <a:solidFill>
              <a:srgbClr val="E4E7EA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35" name="Rectangle: Rounded Corners 234">
            <a:extLst>
              <a:ext uri="{FF2B5EF4-FFF2-40B4-BE49-F238E27FC236}">
                <a16:creationId xmlns:a16="http://schemas.microsoft.com/office/drawing/2014/main" id="{B2662A51-FE97-023C-417E-7DA1553BAB9B}"/>
              </a:ext>
            </a:extLst>
          </p:cNvPr>
          <p:cNvSpPr/>
          <p:nvPr/>
        </p:nvSpPr>
        <p:spPr>
          <a:xfrm>
            <a:off x="1168010" y="13006701"/>
            <a:ext cx="59085" cy="1080517"/>
          </a:xfrm>
          <a:prstGeom prst="roundRect">
            <a:avLst>
              <a:gd name="adj" fmla="val 50000"/>
            </a:avLst>
          </a:prstGeom>
          <a:solidFill>
            <a:srgbClr val="4A5A66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F2B4C531-8683-933B-444F-764310726D2C}"/>
              </a:ext>
            </a:extLst>
          </p:cNvPr>
          <p:cNvSpPr/>
          <p:nvPr/>
        </p:nvSpPr>
        <p:spPr>
          <a:xfrm>
            <a:off x="1353708" y="13158649"/>
            <a:ext cx="236342" cy="236363"/>
          </a:xfrm>
          <a:prstGeom prst="ellipse">
            <a:avLst/>
          </a:prstGeom>
          <a:solidFill>
            <a:srgbClr val="4A5A66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18DF3BB5-6B0B-AA91-4C46-027EF5B1B5A7}"/>
              </a:ext>
            </a:extLst>
          </p:cNvPr>
          <p:cNvSpPr txBox="1"/>
          <p:nvPr/>
        </p:nvSpPr>
        <p:spPr>
          <a:xfrm>
            <a:off x="1350395" y="13175502"/>
            <a:ext cx="242967" cy="212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638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9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8FF9E901-C3FB-0859-07C6-CABF16683142}"/>
              </a:ext>
            </a:extLst>
          </p:cNvPr>
          <p:cNvSpPr txBox="1"/>
          <p:nvPr/>
        </p:nvSpPr>
        <p:spPr>
          <a:xfrm>
            <a:off x="1616782" y="13138092"/>
            <a:ext cx="3151370" cy="268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37" b="1" spc="0" baseline="0">
                <a:ln/>
                <a:solidFill>
                  <a:srgbClr val="3A4751"/>
                </a:solidFill>
                <a:latin typeface="Arial"/>
                <a:cs typeface="Arial"/>
                <a:sym typeface="Arial"/>
                <a:rtl val="0"/>
              </a:rPr>
              <a:t>PLAN FOR "NOTHING" &amp; TEMPLATE IT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A759E466-5049-19CD-15E3-EA3DC99EF67A}"/>
              </a:ext>
            </a:extLst>
          </p:cNvPr>
          <p:cNvSpPr txBox="1"/>
          <p:nvPr/>
        </p:nvSpPr>
        <p:spPr>
          <a:xfrm>
            <a:off x="1279149" y="13402038"/>
            <a:ext cx="3685101" cy="25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Say what to return when there are no claims; end with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4FA42DDB-8D82-F0A7-A9C8-593E85D0B97D}"/>
              </a:ext>
            </a:extLst>
          </p:cNvPr>
          <p:cNvSpPr txBox="1"/>
          <p:nvPr/>
        </p:nvSpPr>
        <p:spPr>
          <a:xfrm>
            <a:off x="1279149" y="13575933"/>
            <a:ext cx="3075604" cy="25553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1301" spc="0" baseline="5940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blank slots ({Title}, {Content}) to fill each run.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E6B2D8AB-1C49-BE09-F4DF-0A1D3C9D4518}"/>
              </a:ext>
            </a:extLst>
          </p:cNvPr>
          <p:cNvSpPr txBox="1"/>
          <p:nvPr/>
        </p:nvSpPr>
        <p:spPr>
          <a:xfrm>
            <a:off x="1279149" y="13773466"/>
            <a:ext cx="2758198" cy="25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6B7177"/>
                </a:solidFill>
                <a:latin typeface="Arial"/>
                <a:cs typeface="Arial"/>
                <a:sym typeface="Arial"/>
                <a:rtl val="0"/>
              </a:rPr>
              <a:t>Why: fallbacks + slots make it reusable.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75DB3774-A013-041E-87C6-32FEDDB35412}"/>
              </a:ext>
            </a:extLst>
          </p:cNvPr>
          <p:cNvSpPr txBox="1"/>
          <p:nvPr/>
        </p:nvSpPr>
        <p:spPr>
          <a:xfrm>
            <a:off x="1279149" y="9716939"/>
            <a:ext cx="1639058" cy="2611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97" b="1" spc="106" baseline="0">
                <a:ln/>
                <a:solidFill>
                  <a:srgbClr val="14706E"/>
                </a:solidFill>
                <a:latin typeface="Arial"/>
                <a:cs typeface="Arial"/>
                <a:sym typeface="Arial"/>
                <a:rtl val="0"/>
              </a:rPr>
              <a:t>THE AUDIT TRAIL</a:t>
            </a:r>
          </a:p>
        </p:txBody>
      </p:sp>
      <p:sp>
        <p:nvSpPr>
          <p:cNvPr id="243" name="Rectangle: Rounded Corners 242">
            <a:extLst>
              <a:ext uri="{FF2B5EF4-FFF2-40B4-BE49-F238E27FC236}">
                <a16:creationId xmlns:a16="http://schemas.microsoft.com/office/drawing/2014/main" id="{8508FA95-6CFD-5062-09BE-0CA1835F791F}"/>
              </a:ext>
            </a:extLst>
          </p:cNvPr>
          <p:cNvSpPr/>
          <p:nvPr/>
        </p:nvSpPr>
        <p:spPr>
          <a:xfrm>
            <a:off x="1877038" y="10069044"/>
            <a:ext cx="2279019" cy="405194"/>
          </a:xfrm>
          <a:prstGeom prst="roundRect">
            <a:avLst>
              <a:gd name="adj" fmla="val 20831"/>
            </a:avLst>
          </a:prstGeom>
          <a:solidFill>
            <a:srgbClr val="FFFFFF"/>
          </a:solidFill>
          <a:ln w="16881" cap="flat">
            <a:solidFill>
              <a:srgbClr val="4A5A66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D04C84EE-1F41-D870-0DF5-8309B58886C9}"/>
              </a:ext>
            </a:extLst>
          </p:cNvPr>
          <p:cNvSpPr txBox="1"/>
          <p:nvPr/>
        </p:nvSpPr>
        <p:spPr>
          <a:xfrm>
            <a:off x="2444861" y="10145130"/>
            <a:ext cx="1126491" cy="2536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57" b="1" spc="0" baseline="0">
                <a:ln/>
                <a:solidFill>
                  <a:srgbClr val="3A4751"/>
                </a:solidFill>
                <a:latin typeface="Arial"/>
                <a:cs typeface="Arial"/>
                <a:sym typeface="Arial"/>
                <a:rtl val="0"/>
              </a:rPr>
              <a:t>CLAIM · id C1</a:t>
            </a:r>
          </a:p>
        </p:txBody>
      </p:sp>
      <p:sp>
        <p:nvSpPr>
          <p:cNvPr id="245" name="Freeform: Shape 244">
            <a:extLst>
              <a:ext uri="{FF2B5EF4-FFF2-40B4-BE49-F238E27FC236}">
                <a16:creationId xmlns:a16="http://schemas.microsoft.com/office/drawing/2014/main" id="{2B502C7C-77FB-8CF5-825A-DD7EF0CE8B55}"/>
              </a:ext>
            </a:extLst>
          </p:cNvPr>
          <p:cNvSpPr/>
          <p:nvPr/>
        </p:nvSpPr>
        <p:spPr>
          <a:xfrm>
            <a:off x="3008107" y="10474238"/>
            <a:ext cx="16881" cy="253246"/>
          </a:xfrm>
          <a:custGeom>
            <a:avLst/>
            <a:gdLst>
              <a:gd name="csX0" fmla="*/ 0 w 16881"/>
              <a:gd name="csY0" fmla="*/ 0 h 253246"/>
              <a:gd name="csX1" fmla="*/ 0 w 16881"/>
              <a:gd name="csY1" fmla="*/ 253246 h 253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881" h="253246">
                <a:moveTo>
                  <a:pt x="0" y="0"/>
                </a:moveTo>
                <a:lnTo>
                  <a:pt x="0" y="253246"/>
                </a:lnTo>
              </a:path>
            </a:pathLst>
          </a:custGeom>
          <a:ln w="20257" cap="flat">
            <a:solidFill>
              <a:srgbClr val="6B7177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46" name="Freeform: Shape 245">
            <a:extLst>
              <a:ext uri="{FF2B5EF4-FFF2-40B4-BE49-F238E27FC236}">
                <a16:creationId xmlns:a16="http://schemas.microsoft.com/office/drawing/2014/main" id="{60155B76-F3DB-165E-9487-BAA2ED57CBB9}"/>
              </a:ext>
            </a:extLst>
          </p:cNvPr>
          <p:cNvSpPr/>
          <p:nvPr/>
        </p:nvSpPr>
        <p:spPr>
          <a:xfrm>
            <a:off x="2949021" y="10710601"/>
            <a:ext cx="118171" cy="84415"/>
          </a:xfrm>
          <a:custGeom>
            <a:avLst/>
            <a:gdLst>
              <a:gd name="csX0" fmla="*/ 59086 w 118171"/>
              <a:gd name="csY0" fmla="*/ 84415 h 84415"/>
              <a:gd name="csX1" fmla="*/ 0 w 118171"/>
              <a:gd name="csY1" fmla="*/ 0 h 84415"/>
              <a:gd name="csX2" fmla="*/ 118171 w 118171"/>
              <a:gd name="csY2" fmla="*/ 0 h 844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8171" h="84415">
                <a:moveTo>
                  <a:pt x="59086" y="84415"/>
                </a:moveTo>
                <a:lnTo>
                  <a:pt x="0" y="0"/>
                </a:lnTo>
                <a:lnTo>
                  <a:pt x="118171" y="0"/>
                </a:lnTo>
                <a:close/>
              </a:path>
            </a:pathLst>
          </a:custGeom>
          <a:solidFill>
            <a:srgbClr val="6B7177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19704359-B3FF-2EFD-E39D-99895DF04CC5}"/>
              </a:ext>
            </a:extLst>
          </p:cNvPr>
          <p:cNvSpPr txBox="1"/>
          <p:nvPr/>
        </p:nvSpPr>
        <p:spPr>
          <a:xfrm>
            <a:off x="3034838" y="10507245"/>
            <a:ext cx="655911" cy="2234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698" spc="0" baseline="0">
                <a:ln/>
                <a:solidFill>
                  <a:srgbClr val="8A9096"/>
                </a:solidFill>
                <a:latin typeface="Arial"/>
                <a:cs typeface="Arial"/>
                <a:sym typeface="Arial"/>
                <a:rtl val="0"/>
              </a:rPr>
              <a:t>evidence</a:t>
            </a:r>
          </a:p>
        </p:txBody>
      </p:sp>
      <p:sp>
        <p:nvSpPr>
          <p:cNvPr id="248" name="Rectangle: Rounded Corners 247">
            <a:extLst>
              <a:ext uri="{FF2B5EF4-FFF2-40B4-BE49-F238E27FC236}">
                <a16:creationId xmlns:a16="http://schemas.microsoft.com/office/drawing/2014/main" id="{B5E7AF3F-AC83-3DB2-F43C-8FF0544D0C35}"/>
              </a:ext>
            </a:extLst>
          </p:cNvPr>
          <p:cNvSpPr/>
          <p:nvPr/>
        </p:nvSpPr>
        <p:spPr>
          <a:xfrm>
            <a:off x="1370589" y="10795017"/>
            <a:ext cx="3376324" cy="607791"/>
          </a:xfrm>
          <a:prstGeom prst="roundRect">
            <a:avLst>
              <a:gd name="adj" fmla="val 13887"/>
            </a:avLst>
          </a:prstGeom>
          <a:solidFill>
            <a:srgbClr val="FFFFFF"/>
          </a:solidFill>
          <a:ln w="16881" cap="flat">
            <a:solidFill>
              <a:srgbClr val="14706E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E21E3B21-36E8-9DEA-0B44-D872B7396D4E}"/>
              </a:ext>
            </a:extLst>
          </p:cNvPr>
          <p:cNvSpPr txBox="1"/>
          <p:nvPr/>
        </p:nvSpPr>
        <p:spPr>
          <a:xfrm>
            <a:off x="2372393" y="10857276"/>
            <a:ext cx="1372718" cy="249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37" b="1" spc="0" baseline="0">
                <a:ln/>
                <a:solidFill>
                  <a:srgbClr val="0E5F5C"/>
                </a:solidFill>
                <a:latin typeface="Arial"/>
                <a:cs typeface="Arial"/>
                <a:sym typeface="Arial"/>
                <a:rtl val="0"/>
              </a:rPr>
              <a:t>EVIDENCE · id E1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99651AB3-5B11-0BCC-ED56-0C74F744CDBE}"/>
              </a:ext>
            </a:extLst>
          </p:cNvPr>
          <p:cNvSpPr txBox="1"/>
          <p:nvPr/>
        </p:nvSpPr>
        <p:spPr>
          <a:xfrm>
            <a:off x="2090134" y="11072100"/>
            <a:ext cx="1937236" cy="234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758" spc="0" baseline="0">
                <a:ln/>
                <a:solidFill>
                  <a:srgbClr val="5A6570"/>
                </a:solidFill>
                <a:latin typeface="Arial"/>
                <a:cs typeface="Arial"/>
                <a:sym typeface="Arial"/>
                <a:rtl val="0"/>
              </a:rPr>
              <a:t>type · strength · support_mode</a:t>
            </a:r>
          </a:p>
        </p:txBody>
      </p:sp>
      <p:sp>
        <p:nvSpPr>
          <p:cNvPr id="251" name="Freeform: Shape 250">
            <a:extLst>
              <a:ext uri="{FF2B5EF4-FFF2-40B4-BE49-F238E27FC236}">
                <a16:creationId xmlns:a16="http://schemas.microsoft.com/office/drawing/2014/main" id="{09AF8631-05BD-FC01-F04A-D396652899FA}"/>
              </a:ext>
            </a:extLst>
          </p:cNvPr>
          <p:cNvSpPr/>
          <p:nvPr/>
        </p:nvSpPr>
        <p:spPr>
          <a:xfrm>
            <a:off x="4206702" y="10220992"/>
            <a:ext cx="870509" cy="776622"/>
          </a:xfrm>
          <a:custGeom>
            <a:avLst/>
            <a:gdLst>
              <a:gd name="csX0" fmla="*/ 540212 w 870509"/>
              <a:gd name="csY0" fmla="*/ 776622 h 776622"/>
              <a:gd name="csX1" fmla="*/ 0 w 870509"/>
              <a:gd name="csY1" fmla="*/ 0 h 77662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70509" h="776622">
                <a:moveTo>
                  <a:pt x="540212" y="776622"/>
                </a:moveTo>
                <a:cubicBezTo>
                  <a:pt x="1046661" y="624674"/>
                  <a:pt x="1046661" y="16883"/>
                  <a:pt x="0" y="0"/>
                </a:cubicBezTo>
              </a:path>
            </a:pathLst>
          </a:custGeom>
          <a:noFill/>
          <a:ln w="18569" cap="flat">
            <a:solidFill>
              <a:srgbClr val="14706E"/>
            </a:solidFill>
            <a:custDash>
              <a:ds d="225000" sp="150000"/>
            </a:custDash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52" name="Freeform: Shape 251">
            <a:extLst>
              <a:ext uri="{FF2B5EF4-FFF2-40B4-BE49-F238E27FC236}">
                <a16:creationId xmlns:a16="http://schemas.microsoft.com/office/drawing/2014/main" id="{D04A2BFD-C180-1B26-9A2F-245DB37F7F5D}"/>
              </a:ext>
            </a:extLst>
          </p:cNvPr>
          <p:cNvSpPr/>
          <p:nvPr/>
        </p:nvSpPr>
        <p:spPr>
          <a:xfrm>
            <a:off x="4156057" y="10153459"/>
            <a:ext cx="118171" cy="118181"/>
          </a:xfrm>
          <a:custGeom>
            <a:avLst/>
            <a:gdLst>
              <a:gd name="csX0" fmla="*/ 118171 w 118171"/>
              <a:gd name="csY0" fmla="*/ 0 h 118181"/>
              <a:gd name="csX1" fmla="*/ 0 w 118171"/>
              <a:gd name="csY1" fmla="*/ 67532 h 118181"/>
              <a:gd name="csX2" fmla="*/ 101290 w 118171"/>
              <a:gd name="csY2" fmla="*/ 118182 h 1181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8171" h="118181">
                <a:moveTo>
                  <a:pt x="118171" y="0"/>
                </a:moveTo>
                <a:lnTo>
                  <a:pt x="0" y="67532"/>
                </a:lnTo>
                <a:lnTo>
                  <a:pt x="101290" y="118182"/>
                </a:lnTo>
                <a:close/>
              </a:path>
            </a:pathLst>
          </a:custGeom>
          <a:solidFill>
            <a:srgbClr val="14706E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F5FEDA06-FE90-48A8-61C4-08B13C3E7FEA}"/>
              </a:ext>
            </a:extLst>
          </p:cNvPr>
          <p:cNvSpPr txBox="1"/>
          <p:nvPr/>
        </p:nvSpPr>
        <p:spPr>
          <a:xfrm>
            <a:off x="4756764" y="10496476"/>
            <a:ext cx="1080867" cy="215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658" spc="0" baseline="0">
                <a:ln/>
                <a:solidFill>
                  <a:srgbClr val="14706E"/>
                </a:solidFill>
                <a:latin typeface="Arial"/>
                <a:cs typeface="Arial"/>
                <a:sym typeface="Arial"/>
                <a:rtl val="0"/>
              </a:rPr>
              <a:t>supporting_claims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8187A9F0-45F4-0019-45AC-F6331AA5C0B4}"/>
              </a:ext>
            </a:extLst>
          </p:cNvPr>
          <p:cNvSpPr txBox="1"/>
          <p:nvPr/>
        </p:nvSpPr>
        <p:spPr>
          <a:xfrm>
            <a:off x="1279149" y="11612430"/>
            <a:ext cx="2626040" cy="225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 dirty="0">
                <a:ln/>
                <a:solidFill>
                  <a:srgbClr val="6B7177"/>
                </a:solidFill>
                <a:latin typeface="Arial"/>
                <a:cs typeface="Arial"/>
                <a:sym typeface="Arial"/>
                <a:rtl val="0"/>
              </a:rPr>
              <a:t>Every claim ships with a checkable evidence trai</a:t>
            </a:r>
            <a:r>
              <a:rPr lang="en-GB" sz="867" dirty="0">
                <a:ln/>
                <a:solidFill>
                  <a:srgbClr val="6B7177"/>
                </a:solidFill>
                <a:latin typeface="Arial"/>
                <a:cs typeface="Arial"/>
                <a:sym typeface="Arial"/>
                <a:rtl val="0"/>
              </a:rPr>
              <a:t>l:</a:t>
            </a:r>
            <a:endParaRPr lang="en-GB" sz="867" spc="0" baseline="0" dirty="0">
              <a:ln/>
              <a:solidFill>
                <a:srgbClr val="6B7177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C989790D-065E-4C1B-37F1-EC72B931826F}"/>
              </a:ext>
            </a:extLst>
          </p:cNvPr>
          <p:cNvSpPr txBox="1"/>
          <p:nvPr/>
        </p:nvSpPr>
        <p:spPr>
          <a:xfrm>
            <a:off x="1279149" y="11798144"/>
            <a:ext cx="3962920" cy="25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6B7177"/>
                </a:solidFill>
                <a:latin typeface="Arial"/>
                <a:cs typeface="Arial"/>
                <a:sym typeface="Arial"/>
                <a:rtl val="0"/>
              </a:rPr>
              <a:t>the links run both ways, so any output can be traced back.</a:t>
            </a:r>
          </a:p>
        </p:txBody>
      </p:sp>
      <p:sp>
        <p:nvSpPr>
          <p:cNvPr id="256" name="Rectangle: Rounded Corners 255">
            <a:extLst>
              <a:ext uri="{FF2B5EF4-FFF2-40B4-BE49-F238E27FC236}">
                <a16:creationId xmlns:a16="http://schemas.microsoft.com/office/drawing/2014/main" id="{0CF3CE66-EBB6-FE20-8B63-7C0C66FE7365}"/>
              </a:ext>
            </a:extLst>
          </p:cNvPr>
          <p:cNvSpPr/>
          <p:nvPr/>
        </p:nvSpPr>
        <p:spPr>
          <a:xfrm>
            <a:off x="13349561" y="9765148"/>
            <a:ext cx="3477939" cy="4153240"/>
          </a:xfrm>
          <a:prstGeom prst="roundRect">
            <a:avLst>
              <a:gd name="adj" fmla="val 2734"/>
            </a:avLst>
          </a:prstGeom>
          <a:solidFill>
            <a:srgbClr val="FFFFFF"/>
          </a:solidFill>
          <a:ln w="21945" cap="flat">
            <a:solidFill>
              <a:srgbClr val="B9BFC4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A166783-DC16-458A-89AC-9A5FEDDDCF9B}"/>
              </a:ext>
            </a:extLst>
          </p:cNvPr>
          <p:cNvSpPr txBox="1"/>
          <p:nvPr/>
        </p:nvSpPr>
        <p:spPr>
          <a:xfrm>
            <a:off x="13528227" y="9905851"/>
            <a:ext cx="2297913" cy="2989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097" b="1" spc="0" baseline="0">
                <a:ln/>
                <a:solidFill>
                  <a:srgbClr val="111418"/>
                </a:solidFill>
                <a:latin typeface="Arial"/>
                <a:cs typeface="Arial"/>
                <a:sym typeface="Arial"/>
                <a:rtl val="0"/>
              </a:rPr>
              <a:t>AUDIT &amp; PROVENANCE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2E23C122-67A9-25F3-8DD9-69A103CB5F31}"/>
              </a:ext>
            </a:extLst>
          </p:cNvPr>
          <p:cNvSpPr txBox="1"/>
          <p:nvPr/>
        </p:nvSpPr>
        <p:spPr>
          <a:xfrm>
            <a:off x="13528227" y="10157356"/>
            <a:ext cx="3088767" cy="2385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778" spc="0" baseline="0">
                <a:ln/>
                <a:solidFill>
                  <a:srgbClr val="8A9096"/>
                </a:solidFill>
                <a:latin typeface="Arial"/>
                <a:cs typeface="Arial"/>
                <a:sym typeface="Arial"/>
                <a:rtl val="0"/>
              </a:rPr>
              <a:t>Why these outputs can be trusted and re-checked</a:t>
            </a:r>
          </a:p>
        </p:txBody>
      </p:sp>
      <p:sp>
        <p:nvSpPr>
          <p:cNvPr id="259" name="Freeform: Shape 258">
            <a:extLst>
              <a:ext uri="{FF2B5EF4-FFF2-40B4-BE49-F238E27FC236}">
                <a16:creationId xmlns:a16="http://schemas.microsoft.com/office/drawing/2014/main" id="{B1780E22-BB3E-1AC3-8B34-1F16AA459020}"/>
              </a:ext>
            </a:extLst>
          </p:cNvPr>
          <p:cNvSpPr/>
          <p:nvPr/>
        </p:nvSpPr>
        <p:spPr>
          <a:xfrm>
            <a:off x="13619667" y="10440472"/>
            <a:ext cx="2801433" cy="87828"/>
          </a:xfrm>
          <a:custGeom>
            <a:avLst/>
            <a:gdLst>
              <a:gd name="csX0" fmla="*/ 0 w 4135997"/>
              <a:gd name="csY0" fmla="*/ 0 h 16883"/>
              <a:gd name="csX1" fmla="*/ 4135998 w 4135997"/>
              <a:gd name="csY1" fmla="*/ 0 h 168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135997" h="16883">
                <a:moveTo>
                  <a:pt x="0" y="0"/>
                </a:moveTo>
                <a:lnTo>
                  <a:pt x="4135998" y="0"/>
                </a:lnTo>
              </a:path>
            </a:pathLst>
          </a:custGeom>
          <a:ln w="16881" cap="flat">
            <a:solidFill>
              <a:srgbClr val="E2E5E8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4F6043BA-8282-6F18-85EB-6727335B79AB}"/>
              </a:ext>
            </a:extLst>
          </p:cNvPr>
          <p:cNvSpPr txBox="1"/>
          <p:nvPr/>
        </p:nvSpPr>
        <p:spPr>
          <a:xfrm>
            <a:off x="13528227" y="10550228"/>
            <a:ext cx="312706" cy="315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97" b="1" spc="0" baseline="0">
                <a:ln/>
                <a:solidFill>
                  <a:srgbClr val="14706E"/>
                </a:solidFill>
                <a:latin typeface="Segoe UI Symbol"/>
                <a:ea typeface="Segoe UI Symbol"/>
                <a:sym typeface="Segoe UI Symbol"/>
                <a:rtl val="0"/>
              </a:rPr>
              <a:t>✓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742F0527-FDC8-FA05-B071-531C68B387E1}"/>
              </a:ext>
            </a:extLst>
          </p:cNvPr>
          <p:cNvSpPr txBox="1"/>
          <p:nvPr/>
        </p:nvSpPr>
        <p:spPr>
          <a:xfrm>
            <a:off x="13781452" y="10597916"/>
            <a:ext cx="2098179" cy="2574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77" b="1" spc="0" baseline="0">
                <a:ln/>
                <a:solidFill>
                  <a:srgbClr val="111418"/>
                </a:solidFill>
                <a:latin typeface="Arial"/>
                <a:cs typeface="Arial"/>
                <a:sym typeface="Arial"/>
                <a:rtl val="0"/>
              </a:rPr>
              <a:t>Keeps qualitative meaning.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953839EA-1DF4-EB76-B901-24E7E8F9B0A1}"/>
              </a:ext>
            </a:extLst>
          </p:cNvPr>
          <p:cNvSpPr txBox="1"/>
          <p:nvPr/>
        </p:nvSpPr>
        <p:spPr>
          <a:xfrm>
            <a:off x="13528227" y="10809684"/>
            <a:ext cx="3306934" cy="24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18" spc="0" baseline="0">
                <a:ln/>
                <a:solidFill>
                  <a:srgbClr val="4A5560"/>
                </a:solidFill>
                <a:latin typeface="Arial"/>
                <a:cs typeface="Arial"/>
                <a:sym typeface="Arial"/>
                <a:rtl val="0"/>
              </a:rPr>
              <a:t>Normative, interpretive, definitional and refutational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422D2D9E-6095-07C9-15C5-7A193F873DC3}"/>
              </a:ext>
            </a:extLst>
          </p:cNvPr>
          <p:cNvSpPr txBox="1"/>
          <p:nvPr/>
        </p:nvSpPr>
        <p:spPr>
          <a:xfrm>
            <a:off x="13528227" y="10975138"/>
            <a:ext cx="3599001" cy="24610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1227" spc="0" baseline="59902">
                <a:ln/>
                <a:solidFill>
                  <a:srgbClr val="4A5560"/>
                </a:solidFill>
                <a:latin typeface="Arial"/>
                <a:cs typeface="Arial"/>
                <a:sym typeface="Arial"/>
                <a:rtl val="0"/>
              </a:rPr>
              <a:t>statements count as claims, not forced into causal form.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7F22E5F6-BA3F-92BA-C3CD-B2BBCB245295}"/>
              </a:ext>
            </a:extLst>
          </p:cNvPr>
          <p:cNvSpPr txBox="1"/>
          <p:nvPr/>
        </p:nvSpPr>
        <p:spPr>
          <a:xfrm>
            <a:off x="13528227" y="11394382"/>
            <a:ext cx="312706" cy="315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97" b="1" spc="0" baseline="0">
                <a:ln/>
                <a:solidFill>
                  <a:srgbClr val="14706E"/>
                </a:solidFill>
                <a:latin typeface="Segoe UI Symbol"/>
                <a:ea typeface="Segoe UI Symbol"/>
                <a:sym typeface="Segoe UI Symbol"/>
                <a:rtl val="0"/>
              </a:rPr>
              <a:t>✓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572E6C76-4968-D94D-FB67-DFC67CD2B8CD}"/>
              </a:ext>
            </a:extLst>
          </p:cNvPr>
          <p:cNvSpPr txBox="1"/>
          <p:nvPr/>
        </p:nvSpPr>
        <p:spPr>
          <a:xfrm>
            <a:off x="13781452" y="11442070"/>
            <a:ext cx="1727073" cy="2574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77" b="1" spc="0" baseline="0">
                <a:ln/>
                <a:solidFill>
                  <a:srgbClr val="111418"/>
                </a:solidFill>
                <a:latin typeface="Arial"/>
                <a:cs typeface="Arial"/>
                <a:sym typeface="Arial"/>
                <a:rtl val="0"/>
              </a:rPr>
              <a:t>Blocks fake causality.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9B0F84B4-15B3-D9FA-E4E8-E8EFCC7A96CA}"/>
              </a:ext>
            </a:extLst>
          </p:cNvPr>
          <p:cNvSpPr txBox="1"/>
          <p:nvPr/>
        </p:nvSpPr>
        <p:spPr>
          <a:xfrm>
            <a:off x="13528227" y="11653838"/>
            <a:ext cx="3429952" cy="24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18" spc="0" baseline="0">
                <a:ln/>
                <a:solidFill>
                  <a:srgbClr val="4A5560"/>
                </a:solidFill>
                <a:latin typeface="Arial"/>
                <a:cs typeface="Arial"/>
                <a:sym typeface="Arial"/>
                <a:rtl val="0"/>
              </a:rPr>
              <a:t>A relationship is recorded only when truly asserted or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EF753BB4-ACDD-8C6A-29F5-7770BA96A62C}"/>
              </a:ext>
            </a:extLst>
          </p:cNvPr>
          <p:cNvSpPr txBox="1"/>
          <p:nvPr/>
        </p:nvSpPr>
        <p:spPr>
          <a:xfrm>
            <a:off x="13528227" y="11819292"/>
            <a:ext cx="3680180" cy="24610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1227" spc="0" baseline="59902">
                <a:ln/>
                <a:solidFill>
                  <a:srgbClr val="4A5560"/>
                </a:solidFill>
                <a:latin typeface="Arial"/>
                <a:cs typeface="Arial"/>
                <a:sym typeface="Arial"/>
                <a:rtl val="0"/>
              </a:rPr>
              <a:t>denied, and negation is preserved: "X does not cause Y".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7961C739-A14F-06EA-B37C-ADBEA910F0E1}"/>
              </a:ext>
            </a:extLst>
          </p:cNvPr>
          <p:cNvSpPr txBox="1"/>
          <p:nvPr/>
        </p:nvSpPr>
        <p:spPr>
          <a:xfrm>
            <a:off x="13528227" y="12238537"/>
            <a:ext cx="312706" cy="315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97" b="1" spc="0" baseline="0">
                <a:ln/>
                <a:solidFill>
                  <a:srgbClr val="14706E"/>
                </a:solidFill>
                <a:latin typeface="Segoe UI Symbol"/>
                <a:ea typeface="Segoe UI Symbol"/>
                <a:sym typeface="Segoe UI Symbol"/>
                <a:rtl val="0"/>
              </a:rPr>
              <a:t>✓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CD5EA1F1-2235-62B3-AC12-FC736B5C769C}"/>
              </a:ext>
            </a:extLst>
          </p:cNvPr>
          <p:cNvSpPr txBox="1"/>
          <p:nvPr/>
        </p:nvSpPr>
        <p:spPr>
          <a:xfrm>
            <a:off x="13781452" y="12286225"/>
            <a:ext cx="1570173" cy="2574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77" b="1" spc="0" baseline="0">
                <a:ln/>
                <a:solidFill>
                  <a:srgbClr val="111418"/>
                </a:solidFill>
                <a:latin typeface="Arial"/>
                <a:cs typeface="Arial"/>
                <a:sym typeface="Arial"/>
                <a:rtl val="0"/>
              </a:rPr>
              <a:t>Tracks provenance.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8DFAE034-3F40-C9DA-BEBA-308A4335016C}"/>
              </a:ext>
            </a:extLst>
          </p:cNvPr>
          <p:cNvSpPr txBox="1"/>
          <p:nvPr/>
        </p:nvSpPr>
        <p:spPr>
          <a:xfrm>
            <a:off x="13528227" y="12497993"/>
            <a:ext cx="3830031" cy="24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18" spc="0" baseline="0">
                <a:ln/>
                <a:solidFill>
                  <a:srgbClr val="4A5560"/>
                </a:solidFill>
                <a:latin typeface="Arial"/>
                <a:cs typeface="Arial"/>
                <a:sym typeface="Arial"/>
                <a:rtl val="0"/>
              </a:rPr>
              <a:t>Each claim is marked author_original, endorsed_from_cited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094F4384-CCEF-1F0D-78D9-3DD7E980ECDF}"/>
              </a:ext>
            </a:extLst>
          </p:cNvPr>
          <p:cNvSpPr txBox="1"/>
          <p:nvPr/>
        </p:nvSpPr>
        <p:spPr>
          <a:xfrm>
            <a:off x="13528227" y="12663447"/>
            <a:ext cx="3815027" cy="24610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1227" spc="0" baseline="59902">
                <a:ln/>
                <a:solidFill>
                  <a:srgbClr val="4A5560"/>
                </a:solidFill>
                <a:latin typeface="Arial"/>
                <a:cs typeface="Arial"/>
                <a:sym typeface="Arial"/>
                <a:rtl val="0"/>
              </a:rPr>
              <a:t>or attributed_to_others — papers quote and critique others.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4ADC1284-F73F-D18D-660E-CA6AE371CC2C}"/>
              </a:ext>
            </a:extLst>
          </p:cNvPr>
          <p:cNvSpPr txBox="1"/>
          <p:nvPr/>
        </p:nvSpPr>
        <p:spPr>
          <a:xfrm>
            <a:off x="13528227" y="13082691"/>
            <a:ext cx="312706" cy="315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97" b="1" spc="0" baseline="0">
                <a:ln/>
                <a:solidFill>
                  <a:srgbClr val="14706E"/>
                </a:solidFill>
                <a:latin typeface="Segoe UI Symbol"/>
                <a:ea typeface="Segoe UI Symbol"/>
                <a:sym typeface="Segoe UI Symbol"/>
                <a:rtl val="0"/>
              </a:rPr>
              <a:t>✓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D8E41CE2-CCAE-CCE0-1651-D60D29DD988F}"/>
              </a:ext>
            </a:extLst>
          </p:cNvPr>
          <p:cNvSpPr txBox="1"/>
          <p:nvPr/>
        </p:nvSpPr>
        <p:spPr>
          <a:xfrm>
            <a:off x="13781452" y="13130379"/>
            <a:ext cx="1891952" cy="2574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77" b="1" spc="0" baseline="0">
                <a:ln/>
                <a:solidFill>
                  <a:srgbClr val="111418"/>
                </a:solidFill>
                <a:latin typeface="Arial"/>
                <a:cs typeface="Arial"/>
                <a:sym typeface="Arial"/>
                <a:rtl val="0"/>
              </a:rPr>
              <a:t>Links claim to evidence.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45013FF1-6F73-BBA3-5A51-423E8FF4A32F}"/>
              </a:ext>
            </a:extLst>
          </p:cNvPr>
          <p:cNvSpPr txBox="1"/>
          <p:nvPr/>
        </p:nvSpPr>
        <p:spPr>
          <a:xfrm>
            <a:off x="13528227" y="13342147"/>
            <a:ext cx="3460571" cy="24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18" spc="0" baseline="0">
                <a:ln/>
                <a:solidFill>
                  <a:srgbClr val="4A5560"/>
                </a:solidFill>
                <a:latin typeface="Arial"/>
                <a:cs typeface="Arial"/>
                <a:sym typeface="Arial"/>
                <a:rtl val="0"/>
              </a:rPr>
              <a:t>Every claim carries type, strength, support_mode and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D22D33A6-DFD3-A728-6364-86849BEBD201}"/>
              </a:ext>
            </a:extLst>
          </p:cNvPr>
          <p:cNvSpPr txBox="1"/>
          <p:nvPr/>
        </p:nvSpPr>
        <p:spPr>
          <a:xfrm>
            <a:off x="13528227" y="13507601"/>
            <a:ext cx="2983436" cy="24610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1227" spc="0" baseline="59902">
                <a:ln/>
                <a:solidFill>
                  <a:srgbClr val="4A5560"/>
                </a:solidFill>
                <a:latin typeface="Arial"/>
                <a:cs typeface="Arial"/>
                <a:sym typeface="Arial"/>
                <a:rtl val="0"/>
              </a:rPr>
              <a:t>supporting_claims — a trail you can re-check.</a:t>
            </a:r>
          </a:p>
        </p:txBody>
      </p:sp>
      <p:sp>
        <p:nvSpPr>
          <p:cNvPr id="276" name="Freeform: Shape 275">
            <a:extLst>
              <a:ext uri="{FF2B5EF4-FFF2-40B4-BE49-F238E27FC236}">
                <a16:creationId xmlns:a16="http://schemas.microsoft.com/office/drawing/2014/main" id="{E7B4BE85-D2C3-028E-58FC-60210579ED06}"/>
              </a:ext>
            </a:extLst>
          </p:cNvPr>
          <p:cNvSpPr/>
          <p:nvPr/>
        </p:nvSpPr>
        <p:spPr>
          <a:xfrm>
            <a:off x="1168010" y="14222284"/>
            <a:ext cx="19143761" cy="16883"/>
          </a:xfrm>
          <a:custGeom>
            <a:avLst/>
            <a:gdLst>
              <a:gd name="csX0" fmla="*/ 0 w 19143761"/>
              <a:gd name="csY0" fmla="*/ 0 h 16883"/>
              <a:gd name="csX1" fmla="*/ 19143762 w 19143761"/>
              <a:gd name="csY1" fmla="*/ 0 h 168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143761" h="16883">
                <a:moveTo>
                  <a:pt x="0" y="0"/>
                </a:moveTo>
                <a:lnTo>
                  <a:pt x="19143762" y="0"/>
                </a:lnTo>
              </a:path>
            </a:pathLst>
          </a:custGeom>
          <a:ln w="16881" cap="flat">
            <a:solidFill>
              <a:srgbClr val="D8DCDF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99B177B3-2A23-85C6-E95A-BE5D42ADE8D9}"/>
              </a:ext>
            </a:extLst>
          </p:cNvPr>
          <p:cNvSpPr txBox="1"/>
          <p:nvPr/>
        </p:nvSpPr>
        <p:spPr>
          <a:xfrm>
            <a:off x="1076570" y="14275373"/>
            <a:ext cx="2687786" cy="2611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97" b="1" spc="106" baseline="0">
                <a:ln/>
                <a:solidFill>
                  <a:srgbClr val="14706E"/>
                </a:solidFill>
                <a:latin typeface="Arial"/>
                <a:cs typeface="Arial"/>
                <a:sym typeface="Arial"/>
                <a:rtl val="0"/>
              </a:rPr>
              <a:t>TAKE THESE TO ANY PROMPT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F21FA4F1-204E-D90A-F59D-8F732136A721}"/>
              </a:ext>
            </a:extLst>
          </p:cNvPr>
          <p:cNvSpPr txBox="1"/>
          <p:nvPr/>
        </p:nvSpPr>
        <p:spPr>
          <a:xfrm>
            <a:off x="1076570" y="14467200"/>
            <a:ext cx="12837600" cy="2536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57" spc="0" baseline="0">
                <a:ln/>
                <a:solidFill>
                  <a:srgbClr val="3A444C"/>
                </a:solidFill>
                <a:latin typeface="Arial"/>
                <a:cs typeface="Arial"/>
                <a:sym typeface="Arial"/>
                <a:rtl val="0"/>
              </a:rPr>
              <a:t>1 Give it a role · 2 Name the job · 3 Define your terms · 4 Offer a fixed menu · 5 Forbid inventing · 6 Track sourcing · 7 Quote, don't paraphrase · 8 Ask for a shape · 9 Plan for "nothing" &amp; template it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AA4779-70D1-81F1-44C3-49B5C831C0A8}"/>
              </a:ext>
            </a:extLst>
          </p:cNvPr>
          <p:cNvGrpSpPr/>
          <p:nvPr/>
        </p:nvGrpSpPr>
        <p:grpSpPr>
          <a:xfrm>
            <a:off x="12981032" y="1847842"/>
            <a:ext cx="50644" cy="12003875"/>
            <a:chOff x="6316905" y="1846980"/>
            <a:chExt cx="50644" cy="12003875"/>
          </a:xfrm>
        </p:grpSpPr>
        <p:sp>
          <p:nvSpPr>
            <p:cNvPr id="279" name="Rectangle: Rounded Corners 278">
              <a:extLst>
                <a:ext uri="{FF2B5EF4-FFF2-40B4-BE49-F238E27FC236}">
                  <a16:creationId xmlns:a16="http://schemas.microsoft.com/office/drawing/2014/main" id="{56659D48-21CE-6AB3-7D0F-37854450E6EB}"/>
                </a:ext>
              </a:extLst>
            </p:cNvPr>
            <p:cNvSpPr/>
            <p:nvPr/>
          </p:nvSpPr>
          <p:spPr>
            <a:xfrm>
              <a:off x="6316905" y="1846980"/>
              <a:ext cx="50644" cy="675323"/>
            </a:xfrm>
            <a:prstGeom prst="roundRect">
              <a:avLst>
                <a:gd name="adj" fmla="val 50000"/>
              </a:avLst>
            </a:prstGeom>
            <a:solidFill>
              <a:srgbClr val="14706E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0" name="Rectangle: Rounded Corners 279">
              <a:extLst>
                <a:ext uri="{FF2B5EF4-FFF2-40B4-BE49-F238E27FC236}">
                  <a16:creationId xmlns:a16="http://schemas.microsoft.com/office/drawing/2014/main" id="{FB93D543-33BE-1811-8269-13F478A8BAA2}"/>
                </a:ext>
              </a:extLst>
            </p:cNvPr>
            <p:cNvSpPr/>
            <p:nvPr/>
          </p:nvSpPr>
          <p:spPr>
            <a:xfrm>
              <a:off x="6316905" y="2606719"/>
              <a:ext cx="50644" cy="455843"/>
            </a:xfrm>
            <a:prstGeom prst="roundRect">
              <a:avLst>
                <a:gd name="adj" fmla="val 50000"/>
              </a:avLst>
            </a:prstGeom>
            <a:solidFill>
              <a:srgbClr val="3B4E9B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1" name="Rectangle: Rounded Corners 280">
              <a:extLst>
                <a:ext uri="{FF2B5EF4-FFF2-40B4-BE49-F238E27FC236}">
                  <a16:creationId xmlns:a16="http://schemas.microsoft.com/office/drawing/2014/main" id="{856E58E7-A5B5-07A1-C3AC-D231130D6903}"/>
                </a:ext>
              </a:extLst>
            </p:cNvPr>
            <p:cNvSpPr/>
            <p:nvPr/>
          </p:nvSpPr>
          <p:spPr>
            <a:xfrm>
              <a:off x="6316905" y="3146977"/>
              <a:ext cx="50644" cy="877920"/>
            </a:xfrm>
            <a:prstGeom prst="roundRect">
              <a:avLst>
                <a:gd name="adj" fmla="val 50000"/>
              </a:avLst>
            </a:prstGeom>
            <a:solidFill>
              <a:srgbClr val="B8761A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2" name="Rectangle: Rounded Corners 281">
              <a:extLst>
                <a:ext uri="{FF2B5EF4-FFF2-40B4-BE49-F238E27FC236}">
                  <a16:creationId xmlns:a16="http://schemas.microsoft.com/office/drawing/2014/main" id="{EBF4CCAB-DD3A-4D29-9E94-9213C027829D}"/>
                </a:ext>
              </a:extLst>
            </p:cNvPr>
            <p:cNvSpPr/>
            <p:nvPr/>
          </p:nvSpPr>
          <p:spPr>
            <a:xfrm>
              <a:off x="6316905" y="4109313"/>
              <a:ext cx="50644" cy="1435062"/>
            </a:xfrm>
            <a:prstGeom prst="roundRect">
              <a:avLst>
                <a:gd name="adj" fmla="val 50000"/>
              </a:avLst>
            </a:prstGeom>
            <a:solidFill>
              <a:srgbClr val="9C2C57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3" name="Rectangle: Rounded Corners 282">
              <a:extLst>
                <a:ext uri="{FF2B5EF4-FFF2-40B4-BE49-F238E27FC236}">
                  <a16:creationId xmlns:a16="http://schemas.microsoft.com/office/drawing/2014/main" id="{9CE221D7-7CCE-170A-98C4-4681B99EC373}"/>
                </a:ext>
              </a:extLst>
            </p:cNvPr>
            <p:cNvSpPr/>
            <p:nvPr/>
          </p:nvSpPr>
          <p:spPr>
            <a:xfrm>
              <a:off x="6316905" y="5628791"/>
              <a:ext cx="50644" cy="776622"/>
            </a:xfrm>
            <a:prstGeom prst="roundRect">
              <a:avLst>
                <a:gd name="adj" fmla="val 50000"/>
              </a:avLst>
            </a:prstGeom>
            <a:solidFill>
              <a:srgbClr val="2E7D55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4" name="Rectangle: Rounded Corners 283">
              <a:extLst>
                <a:ext uri="{FF2B5EF4-FFF2-40B4-BE49-F238E27FC236}">
                  <a16:creationId xmlns:a16="http://schemas.microsoft.com/office/drawing/2014/main" id="{8AB41FD7-8EBC-A755-2142-67C8BDEEAD0B}"/>
                </a:ext>
              </a:extLst>
            </p:cNvPr>
            <p:cNvSpPr/>
            <p:nvPr/>
          </p:nvSpPr>
          <p:spPr>
            <a:xfrm>
              <a:off x="6316905" y="6489829"/>
              <a:ext cx="50644" cy="557141"/>
            </a:xfrm>
            <a:prstGeom prst="roundRect">
              <a:avLst>
                <a:gd name="adj" fmla="val 50000"/>
              </a:avLst>
            </a:prstGeom>
            <a:solidFill>
              <a:srgbClr val="1F6E8C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5" name="Rectangle: Rounded Corners 284">
              <a:extLst>
                <a:ext uri="{FF2B5EF4-FFF2-40B4-BE49-F238E27FC236}">
                  <a16:creationId xmlns:a16="http://schemas.microsoft.com/office/drawing/2014/main" id="{3123D618-0D7E-DD28-2D58-A65A63F4639C}"/>
                </a:ext>
              </a:extLst>
            </p:cNvPr>
            <p:cNvSpPr/>
            <p:nvPr/>
          </p:nvSpPr>
          <p:spPr>
            <a:xfrm>
              <a:off x="6316905" y="7148270"/>
              <a:ext cx="50644" cy="1097400"/>
            </a:xfrm>
            <a:prstGeom prst="roundRect">
              <a:avLst>
                <a:gd name="adj" fmla="val 50000"/>
              </a:avLst>
            </a:prstGeom>
            <a:solidFill>
              <a:srgbClr val="B8761A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6" name="Rectangle: Rounded Corners 285">
              <a:extLst>
                <a:ext uri="{FF2B5EF4-FFF2-40B4-BE49-F238E27FC236}">
                  <a16:creationId xmlns:a16="http://schemas.microsoft.com/office/drawing/2014/main" id="{FED2CA3B-143C-6272-6B6A-A123E453B293}"/>
                </a:ext>
              </a:extLst>
            </p:cNvPr>
            <p:cNvSpPr/>
            <p:nvPr/>
          </p:nvSpPr>
          <p:spPr>
            <a:xfrm>
              <a:off x="6316905" y="8330086"/>
              <a:ext cx="50644" cy="135064"/>
            </a:xfrm>
            <a:prstGeom prst="roundRect">
              <a:avLst>
                <a:gd name="adj" fmla="val 50000"/>
              </a:avLst>
            </a:prstGeom>
            <a:solidFill>
              <a:srgbClr val="A23E2A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7" name="Rectangle: Rounded Corners 286">
              <a:extLst>
                <a:ext uri="{FF2B5EF4-FFF2-40B4-BE49-F238E27FC236}">
                  <a16:creationId xmlns:a16="http://schemas.microsoft.com/office/drawing/2014/main" id="{B70D6DF1-636A-BE36-AA7C-D2E01D8EBB57}"/>
                </a:ext>
              </a:extLst>
            </p:cNvPr>
            <p:cNvSpPr/>
            <p:nvPr/>
          </p:nvSpPr>
          <p:spPr>
            <a:xfrm>
              <a:off x="6316905" y="8549566"/>
              <a:ext cx="50644" cy="3663630"/>
            </a:xfrm>
            <a:prstGeom prst="roundRect">
              <a:avLst>
                <a:gd name="adj" fmla="val 50000"/>
              </a:avLst>
            </a:prstGeom>
            <a:solidFill>
              <a:srgbClr val="6A4A9C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8" name="Rectangle: Rounded Corners 287">
              <a:extLst>
                <a:ext uri="{FF2B5EF4-FFF2-40B4-BE49-F238E27FC236}">
                  <a16:creationId xmlns:a16="http://schemas.microsoft.com/office/drawing/2014/main" id="{AA77267D-E19C-1E2F-7805-1C959B3F15C2}"/>
                </a:ext>
              </a:extLst>
            </p:cNvPr>
            <p:cNvSpPr/>
            <p:nvPr/>
          </p:nvSpPr>
          <p:spPr>
            <a:xfrm>
              <a:off x="6316905" y="12331378"/>
              <a:ext cx="50644" cy="861037"/>
            </a:xfrm>
            <a:prstGeom prst="roundRect">
              <a:avLst>
                <a:gd name="adj" fmla="val 50000"/>
              </a:avLst>
            </a:prstGeom>
            <a:solidFill>
              <a:srgbClr val="B8761A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9" name="Rectangle: Rounded Corners 288">
              <a:extLst>
                <a:ext uri="{FF2B5EF4-FFF2-40B4-BE49-F238E27FC236}">
                  <a16:creationId xmlns:a16="http://schemas.microsoft.com/office/drawing/2014/main" id="{91D54F8C-89DC-AFB7-AAD1-60A791D84F9A}"/>
                </a:ext>
              </a:extLst>
            </p:cNvPr>
            <p:cNvSpPr/>
            <p:nvPr/>
          </p:nvSpPr>
          <p:spPr>
            <a:xfrm>
              <a:off x="6316905" y="13293714"/>
              <a:ext cx="50644" cy="557141"/>
            </a:xfrm>
            <a:prstGeom prst="roundRect">
              <a:avLst>
                <a:gd name="adj" fmla="val 50000"/>
              </a:avLst>
            </a:prstGeom>
            <a:solidFill>
              <a:srgbClr val="4A5A66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648662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er_kicker">
            <a:extLst>
              <a:ext uri="{FF2B5EF4-FFF2-40B4-BE49-F238E27FC236}">
                <a16:creationId xmlns:a16="http://schemas.microsoft.com/office/drawing/2014/main" id="{3CEAB6D4-ACF6-7850-4481-2886FFB767A9}"/>
              </a:ext>
            </a:extLst>
          </p:cNvPr>
          <p:cNvSpPr txBox="1"/>
          <p:nvPr/>
        </p:nvSpPr>
        <p:spPr>
          <a:xfrm>
            <a:off x="1076570" y="693727"/>
            <a:ext cx="9469515" cy="238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47" b="1" spc="319" baseline="0" dirty="0">
                <a:ln/>
                <a:solidFill>
                  <a:srgbClr val="14706E"/>
                </a:solidFill>
                <a:latin typeface="Arial"/>
                <a:cs typeface="Arial"/>
                <a:sym typeface="Arial"/>
                <a:rtl val="0"/>
              </a:rPr>
              <a:t>PROMPT ENGINEERING FOR SOCIAL SCIENCE | AUDIT &amp; PROVENANCE BY DESIGN | TDA23\230021</a:t>
            </a:r>
          </a:p>
        </p:txBody>
      </p:sp>
      <p:sp>
        <p:nvSpPr>
          <p:cNvPr id="8" name="header_title">
            <a:extLst>
              <a:ext uri="{FF2B5EF4-FFF2-40B4-BE49-F238E27FC236}">
                <a16:creationId xmlns:a16="http://schemas.microsoft.com/office/drawing/2014/main" id="{CB75AF45-A154-702E-A7CB-FF7114AED0C3}"/>
              </a:ext>
            </a:extLst>
          </p:cNvPr>
          <p:cNvSpPr txBox="1"/>
          <p:nvPr/>
        </p:nvSpPr>
        <p:spPr>
          <a:xfrm>
            <a:off x="1076570" y="935243"/>
            <a:ext cx="4590022" cy="4309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795" b="1" spc="0" baseline="0">
                <a:ln/>
                <a:solidFill>
                  <a:srgbClr val="111418"/>
                </a:solidFill>
                <a:latin typeface="Arial"/>
                <a:cs typeface="Arial"/>
                <a:sym typeface="Arial"/>
                <a:rtl val="0"/>
              </a:rPr>
              <a:t>Anatomy of a research prompt</a:t>
            </a:r>
          </a:p>
        </p:txBody>
      </p:sp>
      <p:sp>
        <p:nvSpPr>
          <p:cNvPr id="9" name="header_sub1">
            <a:extLst>
              <a:ext uri="{FF2B5EF4-FFF2-40B4-BE49-F238E27FC236}">
                <a16:creationId xmlns:a16="http://schemas.microsoft.com/office/drawing/2014/main" id="{73D5D51F-9F2D-5AAB-7C6F-35F9F9329902}"/>
              </a:ext>
            </a:extLst>
          </p:cNvPr>
          <p:cNvSpPr txBox="1"/>
          <p:nvPr/>
        </p:nvSpPr>
        <p:spPr>
          <a:xfrm>
            <a:off x="1076570" y="1321458"/>
            <a:ext cx="7337265" cy="2350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27" spc="0" baseline="0" dirty="0">
                <a:ln/>
                <a:solidFill>
                  <a:srgbClr val="3A444C"/>
                </a:solidFill>
                <a:latin typeface="Arial"/>
                <a:cs typeface="Arial"/>
                <a:sym typeface="Arial"/>
                <a:rtl val="0"/>
              </a:rPr>
              <a:t>A prompt is the full set of instructions you give an LLM. Like a brief you would hand a</a:t>
            </a:r>
            <a:r>
              <a:rPr lang="en-GB" sz="927" dirty="0">
                <a:ln/>
                <a:solidFill>
                  <a:srgbClr val="3A444C"/>
                </a:solidFill>
                <a:latin typeface="Arial"/>
                <a:cs typeface="Arial"/>
                <a:sym typeface="Arial"/>
                <a:rtl val="0"/>
              </a:rPr>
              <a:t>n </a:t>
            </a:r>
            <a:r>
              <a:rPr lang="en-GB" sz="927" spc="0" baseline="0" dirty="0">
                <a:ln/>
                <a:solidFill>
                  <a:srgbClr val="3A444C"/>
                </a:solidFill>
                <a:latin typeface="Arial"/>
                <a:cs typeface="Arial"/>
                <a:sym typeface="Arial"/>
                <a:rtl val="0"/>
              </a:rPr>
              <a:t>assistant; its wording decides what comes back.</a:t>
            </a:r>
          </a:p>
        </p:txBody>
      </p:sp>
      <p:sp>
        <p:nvSpPr>
          <p:cNvPr id="10" name="header_sub2">
            <a:extLst>
              <a:ext uri="{FF2B5EF4-FFF2-40B4-BE49-F238E27FC236}">
                <a16:creationId xmlns:a16="http://schemas.microsoft.com/office/drawing/2014/main" id="{7844D5F9-8E80-D7A0-722B-0174035F5FE7}"/>
              </a:ext>
            </a:extLst>
          </p:cNvPr>
          <p:cNvSpPr txBox="1"/>
          <p:nvPr/>
        </p:nvSpPr>
        <p:spPr>
          <a:xfrm>
            <a:off x="1076570" y="1507172"/>
            <a:ext cx="11222718" cy="2668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27" spc="0" baseline="0" dirty="0">
                <a:ln/>
                <a:solidFill>
                  <a:srgbClr val="3A444C"/>
                </a:solidFill>
                <a:latin typeface="Arial"/>
                <a:cs typeface="Arial"/>
                <a:sym typeface="Arial"/>
                <a:rtl val="0"/>
              </a:rPr>
              <a:t>Below is one real prompt for pulling claims out of research papers, taken apart piece by piece. The two highlighted panels show why its outputs can be audited.</a:t>
            </a:r>
          </a:p>
        </p:txBody>
      </p:sp>
      <p:sp>
        <p:nvSpPr>
          <p:cNvPr id="11" name="prompt_panel">
            <a:extLst>
              <a:ext uri="{FF2B5EF4-FFF2-40B4-BE49-F238E27FC236}">
                <a16:creationId xmlns:a16="http://schemas.microsoft.com/office/drawing/2014/main" id="{338CA0D0-9085-0722-F9CA-59ECCC17530B}"/>
              </a:ext>
            </a:extLst>
          </p:cNvPr>
          <p:cNvSpPr/>
          <p:nvPr/>
        </p:nvSpPr>
        <p:spPr>
          <a:xfrm>
            <a:off x="6266260" y="1762564"/>
            <a:ext cx="6858203" cy="12155824"/>
          </a:xfrm>
          <a:prstGeom prst="roundRect">
            <a:avLst>
              <a:gd name="adj" fmla="val 1296"/>
            </a:avLst>
          </a:prstGeom>
          <a:solidFill>
            <a:srgbClr val="FFFFFF"/>
          </a:solidFill>
          <a:ln w="16881" cap="flat">
            <a:solidFill>
              <a:srgbClr val="D8DCDF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8111570-C180-1F87-F404-52112D7A3AE6}"/>
              </a:ext>
            </a:extLst>
          </p:cNvPr>
          <p:cNvGrpSpPr/>
          <p:nvPr/>
        </p:nvGrpSpPr>
        <p:grpSpPr>
          <a:xfrm>
            <a:off x="6316905" y="1846980"/>
            <a:ext cx="50644" cy="12003875"/>
            <a:chOff x="6316905" y="1846980"/>
            <a:chExt cx="50644" cy="1200387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514EA91-272C-8BE4-15ED-68B1A90CC342}"/>
                </a:ext>
              </a:extLst>
            </p:cNvPr>
            <p:cNvSpPr/>
            <p:nvPr/>
          </p:nvSpPr>
          <p:spPr>
            <a:xfrm>
              <a:off x="6316905" y="1846980"/>
              <a:ext cx="50644" cy="675323"/>
            </a:xfrm>
            <a:prstGeom prst="roundRect">
              <a:avLst>
                <a:gd name="adj" fmla="val 50000"/>
              </a:avLst>
            </a:prstGeom>
            <a:solidFill>
              <a:srgbClr val="14706E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BA8FF40-0055-E9A8-B945-30623F3C91E6}"/>
                </a:ext>
              </a:extLst>
            </p:cNvPr>
            <p:cNvSpPr/>
            <p:nvPr/>
          </p:nvSpPr>
          <p:spPr>
            <a:xfrm>
              <a:off x="6316905" y="2606719"/>
              <a:ext cx="50644" cy="455843"/>
            </a:xfrm>
            <a:prstGeom prst="roundRect">
              <a:avLst>
                <a:gd name="adj" fmla="val 50000"/>
              </a:avLst>
            </a:prstGeom>
            <a:solidFill>
              <a:srgbClr val="3B4E9B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42E1003-DF57-ECD5-CE9A-2476FD5AE8C5}"/>
                </a:ext>
              </a:extLst>
            </p:cNvPr>
            <p:cNvSpPr/>
            <p:nvPr/>
          </p:nvSpPr>
          <p:spPr>
            <a:xfrm>
              <a:off x="6316905" y="3146977"/>
              <a:ext cx="50644" cy="877920"/>
            </a:xfrm>
            <a:prstGeom prst="roundRect">
              <a:avLst>
                <a:gd name="adj" fmla="val 50000"/>
              </a:avLst>
            </a:prstGeom>
            <a:solidFill>
              <a:srgbClr val="B8761A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B9CA0F5-6319-A1A7-3F42-04FF927A90FA}"/>
                </a:ext>
              </a:extLst>
            </p:cNvPr>
            <p:cNvSpPr/>
            <p:nvPr/>
          </p:nvSpPr>
          <p:spPr>
            <a:xfrm>
              <a:off x="6316905" y="4109313"/>
              <a:ext cx="50644" cy="1435062"/>
            </a:xfrm>
            <a:prstGeom prst="roundRect">
              <a:avLst>
                <a:gd name="adj" fmla="val 50000"/>
              </a:avLst>
            </a:prstGeom>
            <a:solidFill>
              <a:srgbClr val="9C2C57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22497F46-90D5-E11C-C5B7-F9530D80BF5A}"/>
                </a:ext>
              </a:extLst>
            </p:cNvPr>
            <p:cNvSpPr/>
            <p:nvPr/>
          </p:nvSpPr>
          <p:spPr>
            <a:xfrm>
              <a:off x="6316905" y="5628791"/>
              <a:ext cx="50644" cy="776622"/>
            </a:xfrm>
            <a:prstGeom prst="roundRect">
              <a:avLst>
                <a:gd name="adj" fmla="val 50000"/>
              </a:avLst>
            </a:prstGeom>
            <a:solidFill>
              <a:srgbClr val="2E7D55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9DC64447-83E6-F762-5EDA-280B0A2EDDAB}"/>
                </a:ext>
              </a:extLst>
            </p:cNvPr>
            <p:cNvSpPr/>
            <p:nvPr/>
          </p:nvSpPr>
          <p:spPr>
            <a:xfrm>
              <a:off x="6316905" y="6489829"/>
              <a:ext cx="50644" cy="557141"/>
            </a:xfrm>
            <a:prstGeom prst="roundRect">
              <a:avLst>
                <a:gd name="adj" fmla="val 50000"/>
              </a:avLst>
            </a:prstGeom>
            <a:solidFill>
              <a:srgbClr val="1F6E8C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74DD029-C6B1-989A-FCA3-FC617F489083}"/>
                </a:ext>
              </a:extLst>
            </p:cNvPr>
            <p:cNvSpPr/>
            <p:nvPr/>
          </p:nvSpPr>
          <p:spPr>
            <a:xfrm>
              <a:off x="6316905" y="7148270"/>
              <a:ext cx="50644" cy="1097400"/>
            </a:xfrm>
            <a:prstGeom prst="roundRect">
              <a:avLst>
                <a:gd name="adj" fmla="val 50000"/>
              </a:avLst>
            </a:prstGeom>
            <a:solidFill>
              <a:srgbClr val="B8761A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7C710B6-95F5-139A-CE09-55C4A82C6D22}"/>
                </a:ext>
              </a:extLst>
            </p:cNvPr>
            <p:cNvSpPr/>
            <p:nvPr/>
          </p:nvSpPr>
          <p:spPr>
            <a:xfrm>
              <a:off x="6316905" y="8330086"/>
              <a:ext cx="50644" cy="135064"/>
            </a:xfrm>
            <a:prstGeom prst="roundRect">
              <a:avLst>
                <a:gd name="adj" fmla="val 50000"/>
              </a:avLst>
            </a:prstGeom>
            <a:solidFill>
              <a:srgbClr val="A23E2A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9E90611F-F840-25AA-A0BD-AB58E8A9E0AA}"/>
                </a:ext>
              </a:extLst>
            </p:cNvPr>
            <p:cNvSpPr/>
            <p:nvPr/>
          </p:nvSpPr>
          <p:spPr>
            <a:xfrm>
              <a:off x="6316905" y="8549566"/>
              <a:ext cx="50644" cy="3663630"/>
            </a:xfrm>
            <a:prstGeom prst="roundRect">
              <a:avLst>
                <a:gd name="adj" fmla="val 50000"/>
              </a:avLst>
            </a:prstGeom>
            <a:solidFill>
              <a:srgbClr val="6A4A9C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CC003EEB-8542-1F61-4ACB-40902265A3FC}"/>
                </a:ext>
              </a:extLst>
            </p:cNvPr>
            <p:cNvSpPr/>
            <p:nvPr/>
          </p:nvSpPr>
          <p:spPr>
            <a:xfrm>
              <a:off x="6316905" y="12331378"/>
              <a:ext cx="50644" cy="861037"/>
            </a:xfrm>
            <a:prstGeom prst="roundRect">
              <a:avLst>
                <a:gd name="adj" fmla="val 50000"/>
              </a:avLst>
            </a:prstGeom>
            <a:solidFill>
              <a:srgbClr val="B8761A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DC2588FA-27AB-5313-E37D-8E5D05BB4FB5}"/>
                </a:ext>
              </a:extLst>
            </p:cNvPr>
            <p:cNvSpPr/>
            <p:nvPr/>
          </p:nvSpPr>
          <p:spPr>
            <a:xfrm>
              <a:off x="6316905" y="13293714"/>
              <a:ext cx="50644" cy="557141"/>
            </a:xfrm>
            <a:prstGeom prst="roundRect">
              <a:avLst>
                <a:gd name="adj" fmla="val 50000"/>
              </a:avLst>
            </a:prstGeom>
            <a:solidFill>
              <a:srgbClr val="4A5A66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3" name="Graphic 3">
            <a:extLst>
              <a:ext uri="{FF2B5EF4-FFF2-40B4-BE49-F238E27FC236}">
                <a16:creationId xmlns:a16="http://schemas.microsoft.com/office/drawing/2014/main" id="{4C3714FF-904F-ADD2-A397-92E8CC1708E5}"/>
              </a:ext>
            </a:extLst>
          </p:cNvPr>
          <p:cNvGrpSpPr/>
          <p:nvPr/>
        </p:nvGrpSpPr>
        <p:grpSpPr>
          <a:xfrm>
            <a:off x="5979273" y="1931395"/>
            <a:ext cx="9656288" cy="11446734"/>
            <a:chOff x="5979273" y="1931395"/>
            <a:chExt cx="9656288" cy="11446734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ABFAD4B-942E-BD55-1C63-97A3BEB94BD5}"/>
                </a:ext>
              </a:extLst>
            </p:cNvPr>
            <p:cNvSpPr/>
            <p:nvPr/>
          </p:nvSpPr>
          <p:spPr>
            <a:xfrm>
              <a:off x="5979273" y="1931395"/>
              <a:ext cx="422040" cy="16883"/>
            </a:xfrm>
            <a:custGeom>
              <a:avLst/>
              <a:gdLst>
                <a:gd name="csX0" fmla="*/ 0 w 422040"/>
                <a:gd name="csY0" fmla="*/ 0 h 16883"/>
                <a:gd name="csX1" fmla="*/ 422041 w 422040"/>
                <a:gd name="csY1" fmla="*/ 0 h 16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2040" h="16883">
                  <a:moveTo>
                    <a:pt x="0" y="0"/>
                  </a:moveTo>
                  <a:lnTo>
                    <a:pt x="422041" y="0"/>
                  </a:lnTo>
                </a:path>
              </a:pathLst>
            </a:custGeom>
            <a:ln w="16881" cap="flat">
              <a:solidFill>
                <a:srgbClr val="C3C9CE"/>
              </a:solidFill>
              <a:custDash>
                <a:ds d="150000" sp="150000"/>
              </a:custDash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9811900-D403-F0B4-89B6-2EA5BFD7F759}"/>
                </a:ext>
              </a:extLst>
            </p:cNvPr>
            <p:cNvSpPr/>
            <p:nvPr/>
          </p:nvSpPr>
          <p:spPr>
            <a:xfrm>
              <a:off x="15247284" y="2691134"/>
              <a:ext cx="388277" cy="16883"/>
            </a:xfrm>
            <a:custGeom>
              <a:avLst/>
              <a:gdLst>
                <a:gd name="csX0" fmla="*/ 388277 w 388277"/>
                <a:gd name="csY0" fmla="*/ 0 h 16883"/>
                <a:gd name="csX1" fmla="*/ 0 w 388277"/>
                <a:gd name="csY1" fmla="*/ 0 h 16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88277" h="16883">
                  <a:moveTo>
                    <a:pt x="388277" y="0"/>
                  </a:moveTo>
                  <a:lnTo>
                    <a:pt x="0" y="0"/>
                  </a:lnTo>
                </a:path>
              </a:pathLst>
            </a:custGeom>
            <a:ln w="16881" cap="flat">
              <a:solidFill>
                <a:srgbClr val="C3C9CE"/>
              </a:solidFill>
              <a:custDash>
                <a:ds d="150000" sp="150000"/>
              </a:custDash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B75311D-A86A-5584-3E70-26942200E88C}"/>
                </a:ext>
              </a:extLst>
            </p:cNvPr>
            <p:cNvSpPr/>
            <p:nvPr/>
          </p:nvSpPr>
          <p:spPr>
            <a:xfrm>
              <a:off x="5979273" y="3231393"/>
              <a:ext cx="422040" cy="16883"/>
            </a:xfrm>
            <a:custGeom>
              <a:avLst/>
              <a:gdLst>
                <a:gd name="csX0" fmla="*/ 0 w 422040"/>
                <a:gd name="csY0" fmla="*/ 0 h 16883"/>
                <a:gd name="csX1" fmla="*/ 422041 w 422040"/>
                <a:gd name="csY1" fmla="*/ 0 h 16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2040" h="16883">
                  <a:moveTo>
                    <a:pt x="0" y="0"/>
                  </a:moveTo>
                  <a:lnTo>
                    <a:pt x="422041" y="0"/>
                  </a:lnTo>
                </a:path>
              </a:pathLst>
            </a:custGeom>
            <a:ln w="16881" cap="flat">
              <a:solidFill>
                <a:srgbClr val="C3C9CE"/>
              </a:solidFill>
              <a:custDash>
                <a:ds d="150000" sp="150000"/>
              </a:custDash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8E1B43B-3FED-982D-A531-CF4B47644C17}"/>
                </a:ext>
              </a:extLst>
            </p:cNvPr>
            <p:cNvSpPr/>
            <p:nvPr/>
          </p:nvSpPr>
          <p:spPr>
            <a:xfrm>
              <a:off x="15247284" y="4193729"/>
              <a:ext cx="388277" cy="16883"/>
            </a:xfrm>
            <a:custGeom>
              <a:avLst/>
              <a:gdLst>
                <a:gd name="csX0" fmla="*/ 388277 w 388277"/>
                <a:gd name="csY0" fmla="*/ 0 h 16883"/>
                <a:gd name="csX1" fmla="*/ 0 w 388277"/>
                <a:gd name="csY1" fmla="*/ 0 h 16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88277" h="16883">
                  <a:moveTo>
                    <a:pt x="388277" y="0"/>
                  </a:moveTo>
                  <a:lnTo>
                    <a:pt x="0" y="0"/>
                  </a:lnTo>
                </a:path>
              </a:pathLst>
            </a:custGeom>
            <a:ln w="16881" cap="flat">
              <a:solidFill>
                <a:srgbClr val="C3C9CE"/>
              </a:solidFill>
              <a:custDash>
                <a:ds d="150000" sp="150000"/>
              </a:custDash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9A54063-3856-040A-526A-455FA48CA06D}"/>
                </a:ext>
              </a:extLst>
            </p:cNvPr>
            <p:cNvSpPr/>
            <p:nvPr/>
          </p:nvSpPr>
          <p:spPr>
            <a:xfrm>
              <a:off x="5979273" y="5713207"/>
              <a:ext cx="422040" cy="16883"/>
            </a:xfrm>
            <a:custGeom>
              <a:avLst/>
              <a:gdLst>
                <a:gd name="csX0" fmla="*/ 0 w 422040"/>
                <a:gd name="csY0" fmla="*/ 0 h 16883"/>
                <a:gd name="csX1" fmla="*/ 422041 w 422040"/>
                <a:gd name="csY1" fmla="*/ 0 h 16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2040" h="16883">
                  <a:moveTo>
                    <a:pt x="0" y="0"/>
                  </a:moveTo>
                  <a:lnTo>
                    <a:pt x="422041" y="0"/>
                  </a:lnTo>
                </a:path>
              </a:pathLst>
            </a:custGeom>
            <a:ln w="16881" cap="flat">
              <a:solidFill>
                <a:srgbClr val="C3C9CE"/>
              </a:solidFill>
              <a:custDash>
                <a:ds d="150000" sp="150000"/>
              </a:custDash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40320AF-3AAE-84F4-C04A-8F1BC49CE9B8}"/>
                </a:ext>
              </a:extLst>
            </p:cNvPr>
            <p:cNvSpPr/>
            <p:nvPr/>
          </p:nvSpPr>
          <p:spPr>
            <a:xfrm>
              <a:off x="15247284" y="6574244"/>
              <a:ext cx="388277" cy="16883"/>
            </a:xfrm>
            <a:custGeom>
              <a:avLst/>
              <a:gdLst>
                <a:gd name="csX0" fmla="*/ 388277 w 388277"/>
                <a:gd name="csY0" fmla="*/ 0 h 16883"/>
                <a:gd name="csX1" fmla="*/ 0 w 388277"/>
                <a:gd name="csY1" fmla="*/ 0 h 16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88277" h="16883">
                  <a:moveTo>
                    <a:pt x="388277" y="0"/>
                  </a:moveTo>
                  <a:lnTo>
                    <a:pt x="0" y="0"/>
                  </a:lnTo>
                </a:path>
              </a:pathLst>
            </a:custGeom>
            <a:ln w="16881" cap="flat">
              <a:solidFill>
                <a:srgbClr val="C3C9CE"/>
              </a:solidFill>
              <a:custDash>
                <a:ds d="150000" sp="150000"/>
              </a:custDash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4A4A61A-ECC3-784D-AF2C-8C4AF65E8EC9}"/>
                </a:ext>
              </a:extLst>
            </p:cNvPr>
            <p:cNvSpPr/>
            <p:nvPr/>
          </p:nvSpPr>
          <p:spPr>
            <a:xfrm>
              <a:off x="5979273" y="8414501"/>
              <a:ext cx="422040" cy="16883"/>
            </a:xfrm>
            <a:custGeom>
              <a:avLst/>
              <a:gdLst>
                <a:gd name="csX0" fmla="*/ 0 w 422040"/>
                <a:gd name="csY0" fmla="*/ 0 h 16883"/>
                <a:gd name="csX1" fmla="*/ 422041 w 422040"/>
                <a:gd name="csY1" fmla="*/ 0 h 16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2040" h="16883">
                  <a:moveTo>
                    <a:pt x="0" y="0"/>
                  </a:moveTo>
                  <a:lnTo>
                    <a:pt x="422041" y="0"/>
                  </a:lnTo>
                </a:path>
              </a:pathLst>
            </a:custGeom>
            <a:ln w="16881" cap="flat">
              <a:solidFill>
                <a:srgbClr val="C3C9CE"/>
              </a:solidFill>
              <a:custDash>
                <a:ds d="150000" sp="150000"/>
              </a:custDash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1F0BED6-B4E8-1226-2A74-68CC0D2D5916}"/>
                </a:ext>
              </a:extLst>
            </p:cNvPr>
            <p:cNvSpPr/>
            <p:nvPr/>
          </p:nvSpPr>
          <p:spPr>
            <a:xfrm>
              <a:off x="15247284" y="8633981"/>
              <a:ext cx="388277" cy="16883"/>
            </a:xfrm>
            <a:custGeom>
              <a:avLst/>
              <a:gdLst>
                <a:gd name="csX0" fmla="*/ 388277 w 388277"/>
                <a:gd name="csY0" fmla="*/ 0 h 16883"/>
                <a:gd name="csX1" fmla="*/ 0 w 388277"/>
                <a:gd name="csY1" fmla="*/ 0 h 16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88277" h="16883">
                  <a:moveTo>
                    <a:pt x="388277" y="0"/>
                  </a:moveTo>
                  <a:lnTo>
                    <a:pt x="0" y="0"/>
                  </a:lnTo>
                </a:path>
              </a:pathLst>
            </a:custGeom>
            <a:ln w="16881" cap="flat">
              <a:solidFill>
                <a:srgbClr val="C3C9CE"/>
              </a:solidFill>
              <a:custDash>
                <a:ds d="150000" sp="150000"/>
              </a:custDash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F73DA9D-EB74-2568-992F-76FD1CA6FDEB}"/>
                </a:ext>
              </a:extLst>
            </p:cNvPr>
            <p:cNvSpPr/>
            <p:nvPr/>
          </p:nvSpPr>
          <p:spPr>
            <a:xfrm>
              <a:off x="5979273" y="13276831"/>
              <a:ext cx="422040" cy="101298"/>
            </a:xfrm>
            <a:custGeom>
              <a:avLst/>
              <a:gdLst>
                <a:gd name="csX0" fmla="*/ 0 w 422040"/>
                <a:gd name="csY0" fmla="*/ 0 h 101298"/>
                <a:gd name="csX1" fmla="*/ 422041 w 422040"/>
                <a:gd name="csY1" fmla="*/ 101299 h 101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2040" h="101298">
                  <a:moveTo>
                    <a:pt x="0" y="0"/>
                  </a:moveTo>
                  <a:lnTo>
                    <a:pt x="422041" y="101299"/>
                  </a:lnTo>
                </a:path>
              </a:pathLst>
            </a:custGeom>
            <a:ln w="16881" cap="flat">
              <a:solidFill>
                <a:srgbClr val="C3C9CE"/>
              </a:solidFill>
              <a:custDash>
                <a:ds d="150000" sp="150000"/>
              </a:custDash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44" name="Graphic 3">
            <a:extLst>
              <a:ext uri="{FF2B5EF4-FFF2-40B4-BE49-F238E27FC236}">
                <a16:creationId xmlns:a16="http://schemas.microsoft.com/office/drawing/2014/main" id="{F8C0847F-5891-72C2-1B61-B125414108AF}"/>
              </a:ext>
            </a:extLst>
          </p:cNvPr>
          <p:cNvGrpSpPr/>
          <p:nvPr/>
        </p:nvGrpSpPr>
        <p:grpSpPr>
          <a:xfrm>
            <a:off x="6401313" y="1830096"/>
            <a:ext cx="8845970" cy="11649331"/>
            <a:chOff x="6401313" y="1830096"/>
            <a:chExt cx="8845970" cy="11649331"/>
          </a:xfrm>
        </p:grpSpPr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5BE1DE63-68EA-1E14-F1F1-7A1A93BB5ED7}"/>
                </a:ext>
              </a:extLst>
            </p:cNvPr>
            <p:cNvSpPr/>
            <p:nvPr/>
          </p:nvSpPr>
          <p:spPr>
            <a:xfrm>
              <a:off x="6401313" y="1830096"/>
              <a:ext cx="202579" cy="202597"/>
            </a:xfrm>
            <a:prstGeom prst="ellipse">
              <a:avLst/>
            </a:prstGeom>
            <a:solidFill>
              <a:srgbClr val="14706E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C2F5514D-7BB2-B600-1F53-8934D695268D}"/>
                </a:ext>
              </a:extLst>
            </p:cNvPr>
            <p:cNvSpPr txBox="1"/>
            <p:nvPr/>
          </p:nvSpPr>
          <p:spPr>
            <a:xfrm>
              <a:off x="6381119" y="1826690"/>
              <a:ext cx="242968" cy="2121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638" b="1" spc="0" baseline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1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7A78D7F7-EA6C-A4E2-43EA-6A50F9D684AC}"/>
                </a:ext>
              </a:extLst>
            </p:cNvPr>
            <p:cNvSpPr/>
            <p:nvPr/>
          </p:nvSpPr>
          <p:spPr>
            <a:xfrm>
              <a:off x="15044705" y="2589835"/>
              <a:ext cx="202579" cy="202597"/>
            </a:xfrm>
            <a:prstGeom prst="ellipse">
              <a:avLst/>
            </a:prstGeom>
            <a:solidFill>
              <a:srgbClr val="3B4E9B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D6A1394B-A1D7-B5C7-3260-9D1B96DDCDFD}"/>
                </a:ext>
              </a:extLst>
            </p:cNvPr>
            <p:cNvSpPr txBox="1"/>
            <p:nvPr/>
          </p:nvSpPr>
          <p:spPr>
            <a:xfrm>
              <a:off x="15024511" y="2586429"/>
              <a:ext cx="242967" cy="2121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638" b="1" spc="0" baseline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2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5C998F5-FDC1-7976-8C4B-8D62B4C254C5}"/>
                </a:ext>
              </a:extLst>
            </p:cNvPr>
            <p:cNvSpPr/>
            <p:nvPr/>
          </p:nvSpPr>
          <p:spPr>
            <a:xfrm>
              <a:off x="6401313" y="3130094"/>
              <a:ext cx="202579" cy="202597"/>
            </a:xfrm>
            <a:prstGeom prst="ellipse">
              <a:avLst/>
            </a:prstGeom>
            <a:solidFill>
              <a:srgbClr val="B8761A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0A75ADBA-D806-F991-92AE-CD1091F5A4B4}"/>
                </a:ext>
              </a:extLst>
            </p:cNvPr>
            <p:cNvSpPr txBox="1"/>
            <p:nvPr/>
          </p:nvSpPr>
          <p:spPr>
            <a:xfrm>
              <a:off x="6381119" y="3126688"/>
              <a:ext cx="242968" cy="2121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638" b="1" spc="0" baseline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3</a:t>
              </a: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0B275170-26D5-5558-F8C9-0BE038011F16}"/>
                </a:ext>
              </a:extLst>
            </p:cNvPr>
            <p:cNvSpPr/>
            <p:nvPr/>
          </p:nvSpPr>
          <p:spPr>
            <a:xfrm>
              <a:off x="15044705" y="4092430"/>
              <a:ext cx="202579" cy="202597"/>
            </a:xfrm>
            <a:prstGeom prst="ellipse">
              <a:avLst/>
            </a:prstGeom>
            <a:solidFill>
              <a:srgbClr val="9C2C57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69BC917-8C0F-E678-E732-64ABDCA25F86}"/>
                </a:ext>
              </a:extLst>
            </p:cNvPr>
            <p:cNvSpPr txBox="1"/>
            <p:nvPr/>
          </p:nvSpPr>
          <p:spPr>
            <a:xfrm>
              <a:off x="15024511" y="4089024"/>
              <a:ext cx="242967" cy="2121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638" b="1" spc="0" baseline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4</a:t>
              </a: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199F9DC9-C277-7DB6-93E3-A7955F8A0EB4}"/>
                </a:ext>
              </a:extLst>
            </p:cNvPr>
            <p:cNvSpPr/>
            <p:nvPr/>
          </p:nvSpPr>
          <p:spPr>
            <a:xfrm>
              <a:off x="6401313" y="5611908"/>
              <a:ext cx="202579" cy="202597"/>
            </a:xfrm>
            <a:prstGeom prst="ellipse">
              <a:avLst/>
            </a:prstGeom>
            <a:solidFill>
              <a:srgbClr val="2E7D55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492DB8FE-D2E1-E248-D237-F22594560A7F}"/>
                </a:ext>
              </a:extLst>
            </p:cNvPr>
            <p:cNvSpPr txBox="1"/>
            <p:nvPr/>
          </p:nvSpPr>
          <p:spPr>
            <a:xfrm>
              <a:off x="6381119" y="5608502"/>
              <a:ext cx="242968" cy="2121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638" b="1" spc="0" baseline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5</a:t>
              </a: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E3228854-44DB-C04D-466C-575CFDBAC36B}"/>
                </a:ext>
              </a:extLst>
            </p:cNvPr>
            <p:cNvSpPr/>
            <p:nvPr/>
          </p:nvSpPr>
          <p:spPr>
            <a:xfrm>
              <a:off x="15044705" y="6472946"/>
              <a:ext cx="202579" cy="202597"/>
            </a:xfrm>
            <a:prstGeom prst="ellipse">
              <a:avLst/>
            </a:prstGeom>
            <a:solidFill>
              <a:srgbClr val="1F6E8C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B97A95B7-ED6F-1AB7-13F8-58ACC2E51A64}"/>
                </a:ext>
              </a:extLst>
            </p:cNvPr>
            <p:cNvSpPr txBox="1"/>
            <p:nvPr/>
          </p:nvSpPr>
          <p:spPr>
            <a:xfrm>
              <a:off x="15024511" y="6469539"/>
              <a:ext cx="242967" cy="2121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638" b="1" spc="0" baseline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6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8F2D012B-2674-071A-715D-80D9A9546DE6}"/>
                </a:ext>
              </a:extLst>
            </p:cNvPr>
            <p:cNvSpPr/>
            <p:nvPr/>
          </p:nvSpPr>
          <p:spPr>
            <a:xfrm>
              <a:off x="6401313" y="8313203"/>
              <a:ext cx="202579" cy="202597"/>
            </a:xfrm>
            <a:prstGeom prst="ellipse">
              <a:avLst/>
            </a:prstGeom>
            <a:solidFill>
              <a:srgbClr val="A23E2A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08476923-9403-55BA-3335-DE470E43542D}"/>
                </a:ext>
              </a:extLst>
            </p:cNvPr>
            <p:cNvSpPr txBox="1"/>
            <p:nvPr/>
          </p:nvSpPr>
          <p:spPr>
            <a:xfrm>
              <a:off x="6381119" y="8309796"/>
              <a:ext cx="242968" cy="2121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638" b="1" spc="0" baseline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7</a:t>
              </a: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581C8D49-8A11-293C-ACED-65C77E3B253C}"/>
                </a:ext>
              </a:extLst>
            </p:cNvPr>
            <p:cNvSpPr/>
            <p:nvPr/>
          </p:nvSpPr>
          <p:spPr>
            <a:xfrm>
              <a:off x="15044705" y="8532683"/>
              <a:ext cx="202579" cy="202597"/>
            </a:xfrm>
            <a:prstGeom prst="ellipse">
              <a:avLst/>
            </a:prstGeom>
            <a:solidFill>
              <a:srgbClr val="6A4A9C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9EE6B9F9-30C8-9F9C-9BE2-9742760F6232}"/>
                </a:ext>
              </a:extLst>
            </p:cNvPr>
            <p:cNvSpPr txBox="1"/>
            <p:nvPr/>
          </p:nvSpPr>
          <p:spPr>
            <a:xfrm>
              <a:off x="15024511" y="8529276"/>
              <a:ext cx="242967" cy="2121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638" b="1" spc="0" baseline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8</a:t>
              </a:r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D60B5269-796F-F4F5-CC33-4B8157087AD0}"/>
                </a:ext>
              </a:extLst>
            </p:cNvPr>
            <p:cNvSpPr/>
            <p:nvPr/>
          </p:nvSpPr>
          <p:spPr>
            <a:xfrm>
              <a:off x="6401313" y="13276831"/>
              <a:ext cx="202579" cy="202597"/>
            </a:xfrm>
            <a:prstGeom prst="ellipse">
              <a:avLst/>
            </a:prstGeom>
            <a:solidFill>
              <a:srgbClr val="4A5A66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824B43A-3BD6-AE9E-BBE9-151586851536}"/>
                </a:ext>
              </a:extLst>
            </p:cNvPr>
            <p:cNvSpPr txBox="1"/>
            <p:nvPr/>
          </p:nvSpPr>
          <p:spPr>
            <a:xfrm>
              <a:off x="6381119" y="13273424"/>
              <a:ext cx="242968" cy="2121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638" b="1" spc="0" baseline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9</a:t>
              </a:r>
            </a:p>
          </p:txBody>
        </p:sp>
      </p:grp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F2F837D5-589D-9CD0-E1F6-D163F5297227}"/>
              </a:ext>
            </a:extLst>
          </p:cNvPr>
          <p:cNvSpPr/>
          <p:nvPr/>
        </p:nvSpPr>
        <p:spPr>
          <a:xfrm>
            <a:off x="1176518" y="1800114"/>
            <a:ext cx="4811262" cy="1181816"/>
          </a:xfrm>
          <a:prstGeom prst="roundRect">
            <a:avLst>
              <a:gd name="adj" fmla="val 8570"/>
            </a:avLst>
          </a:prstGeom>
          <a:solidFill>
            <a:srgbClr val="FFFFFF"/>
          </a:solidFill>
          <a:ln w="16881" cap="flat">
            <a:solidFill>
              <a:srgbClr val="E4E7EA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975C515C-68E1-E793-41C9-8539D74841B6}"/>
              </a:ext>
            </a:extLst>
          </p:cNvPr>
          <p:cNvSpPr/>
          <p:nvPr/>
        </p:nvSpPr>
        <p:spPr>
          <a:xfrm>
            <a:off x="1250560" y="1842989"/>
            <a:ext cx="59085" cy="1181816"/>
          </a:xfrm>
          <a:prstGeom prst="roundRect">
            <a:avLst>
              <a:gd name="adj" fmla="val 50000"/>
            </a:avLst>
          </a:prstGeom>
          <a:solidFill>
            <a:srgbClr val="14706E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F64517DA-7F52-FABD-1513-43DD1834B23C}"/>
              </a:ext>
            </a:extLst>
          </p:cNvPr>
          <p:cNvSpPr/>
          <p:nvPr/>
        </p:nvSpPr>
        <p:spPr>
          <a:xfrm>
            <a:off x="1353708" y="1813213"/>
            <a:ext cx="236342" cy="236363"/>
          </a:xfrm>
          <a:prstGeom prst="ellipse">
            <a:avLst/>
          </a:prstGeom>
          <a:solidFill>
            <a:srgbClr val="14706E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4213894D-B838-BFDB-1A12-3BFA8C42D568}"/>
              </a:ext>
            </a:extLst>
          </p:cNvPr>
          <p:cNvSpPr txBox="1"/>
          <p:nvPr/>
        </p:nvSpPr>
        <p:spPr>
          <a:xfrm>
            <a:off x="1350395" y="1830066"/>
            <a:ext cx="242967" cy="2121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638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F8F8F838-6CA2-321A-8DD3-C16AC31F01F6}"/>
              </a:ext>
            </a:extLst>
          </p:cNvPr>
          <p:cNvSpPr txBox="1"/>
          <p:nvPr/>
        </p:nvSpPr>
        <p:spPr>
          <a:xfrm>
            <a:off x="1616782" y="1792656"/>
            <a:ext cx="2666242" cy="2687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37" b="1" spc="0" baseline="0">
                <a:ln/>
                <a:solidFill>
                  <a:srgbClr val="14706E"/>
                </a:solidFill>
                <a:latin typeface="Arial"/>
                <a:cs typeface="Arial"/>
                <a:sym typeface="Arial"/>
                <a:rtl val="0"/>
              </a:rPr>
              <a:t>GIVE IT A ROLE, NAME THE JOB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43767E48-8312-E46B-0A36-7899605ED4A8}"/>
              </a:ext>
            </a:extLst>
          </p:cNvPr>
          <p:cNvSpPr txBox="1"/>
          <p:nvPr/>
        </p:nvSpPr>
        <p:spPr>
          <a:xfrm>
            <a:off x="1279149" y="2056601"/>
            <a:ext cx="3799701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Say who the model should be and exactly what to do —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BE51E7CA-6601-927A-E006-DECCC7F4BA63}"/>
              </a:ext>
            </a:extLst>
          </p:cNvPr>
          <p:cNvSpPr txBox="1"/>
          <p:nvPr/>
        </p:nvSpPr>
        <p:spPr>
          <a:xfrm>
            <a:off x="1279149" y="2230497"/>
            <a:ext cx="3350986" cy="25553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1301" spc="0" baseline="5940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and flag the input is a qualitative paper, not data.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D38A3AD-77BE-2A6F-D0C9-DF79D1D67C0C}"/>
              </a:ext>
            </a:extLst>
          </p:cNvPr>
          <p:cNvSpPr txBox="1"/>
          <p:nvPr/>
        </p:nvSpPr>
        <p:spPr>
          <a:xfrm>
            <a:off x="1279149" y="2428029"/>
            <a:ext cx="3439982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 dirty="0">
                <a:ln/>
                <a:solidFill>
                  <a:srgbClr val="6B7177"/>
                </a:solidFill>
                <a:latin typeface="Arial"/>
                <a:cs typeface="Arial"/>
                <a:sym typeface="Arial"/>
                <a:rtl val="0"/>
              </a:rPr>
              <a:t>Why: it then reads for meaning, not just keywords.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1DFB1A9A-333F-1440-1B21-F7465C424E97}"/>
              </a:ext>
            </a:extLst>
          </p:cNvPr>
          <p:cNvSpPr txBox="1"/>
          <p:nvPr/>
        </p:nvSpPr>
        <p:spPr>
          <a:xfrm>
            <a:off x="1279149" y="2622914"/>
            <a:ext cx="3849586" cy="244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08" b="1" spc="0" baseline="0">
                <a:ln/>
                <a:solidFill>
                  <a:srgbClr val="14706E"/>
                </a:solidFill>
                <a:latin typeface="Arial"/>
                <a:cs typeface="Arial"/>
                <a:sym typeface="Arial"/>
                <a:rtl val="0"/>
              </a:rPr>
              <a:t>Deeper: </a:t>
            </a:r>
            <a:r>
              <a:rPr lang="en-GB" sz="808" b="1" spc="0" baseline="0">
                <a:ln/>
                <a:solidFill>
                  <a:srgbClr val="8A9096"/>
                </a:solidFill>
                <a:latin typeface="Arial"/>
                <a:cs typeface="Arial"/>
                <a:sym typeface="Arial"/>
                <a:rtl val="0"/>
              </a:rPr>
              <a:t>a role sets the model's assumptions before it reads.</a:t>
            </a:r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C73D26FE-F84F-402D-E8EC-B1B6527975B2}"/>
              </a:ext>
            </a:extLst>
          </p:cNvPr>
          <p:cNvSpPr/>
          <p:nvPr/>
        </p:nvSpPr>
        <p:spPr>
          <a:xfrm>
            <a:off x="13349561" y="2421005"/>
            <a:ext cx="3300139" cy="1181816"/>
          </a:xfrm>
          <a:prstGeom prst="roundRect">
            <a:avLst>
              <a:gd name="adj" fmla="val 8570"/>
            </a:avLst>
          </a:prstGeom>
          <a:solidFill>
            <a:srgbClr val="FFFFFF"/>
          </a:solidFill>
          <a:ln w="16881" cap="flat">
            <a:solidFill>
              <a:srgbClr val="E4E7EA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392D0F29-402C-0BC0-D4BE-A578C6CB63FC}"/>
              </a:ext>
            </a:extLst>
          </p:cNvPr>
          <p:cNvSpPr/>
          <p:nvPr/>
        </p:nvSpPr>
        <p:spPr>
          <a:xfrm>
            <a:off x="13349561" y="2421005"/>
            <a:ext cx="59085" cy="1181816"/>
          </a:xfrm>
          <a:prstGeom prst="roundRect">
            <a:avLst>
              <a:gd name="adj" fmla="val 50000"/>
            </a:avLst>
          </a:prstGeom>
          <a:solidFill>
            <a:srgbClr val="3B4E9B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1FC4E710-DDB9-6B80-A32B-7E3F0333DD73}"/>
              </a:ext>
            </a:extLst>
          </p:cNvPr>
          <p:cNvSpPr/>
          <p:nvPr/>
        </p:nvSpPr>
        <p:spPr>
          <a:xfrm>
            <a:off x="13535259" y="2572952"/>
            <a:ext cx="236342" cy="236363"/>
          </a:xfrm>
          <a:prstGeom prst="ellipse">
            <a:avLst/>
          </a:prstGeom>
          <a:solidFill>
            <a:srgbClr val="3B4E9B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CF7285B-948A-FCEF-B9E7-2E84E39A7941}"/>
              </a:ext>
            </a:extLst>
          </p:cNvPr>
          <p:cNvSpPr txBox="1"/>
          <p:nvPr/>
        </p:nvSpPr>
        <p:spPr>
          <a:xfrm>
            <a:off x="13531947" y="2589805"/>
            <a:ext cx="242967" cy="2121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638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2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D7D1EFAD-C4AB-4634-730A-28A30B609617}"/>
              </a:ext>
            </a:extLst>
          </p:cNvPr>
          <p:cNvSpPr txBox="1"/>
          <p:nvPr/>
        </p:nvSpPr>
        <p:spPr>
          <a:xfrm>
            <a:off x="13798333" y="2552395"/>
            <a:ext cx="1863972" cy="2687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37" b="1" spc="0" baseline="0">
                <a:ln/>
                <a:solidFill>
                  <a:srgbClr val="3B4E9B"/>
                </a:solidFill>
                <a:latin typeface="Arial"/>
                <a:cs typeface="Arial"/>
                <a:sym typeface="Arial"/>
                <a:rtl val="0"/>
              </a:rPr>
              <a:t>DEFINE YOUR TERMS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CFF966F6-0421-23D2-228F-0432D9B20724}"/>
              </a:ext>
            </a:extLst>
          </p:cNvPr>
          <p:cNvSpPr txBox="1"/>
          <p:nvPr/>
        </p:nvSpPr>
        <p:spPr>
          <a:xfrm>
            <a:off x="13460701" y="2816340"/>
            <a:ext cx="3805723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Spell out what counts as a "claim" rather than assuming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E3533CF0-16C9-35BE-2F3F-7A9482E3E786}"/>
              </a:ext>
            </a:extLst>
          </p:cNvPr>
          <p:cNvSpPr txBox="1"/>
          <p:nvPr/>
        </p:nvSpPr>
        <p:spPr>
          <a:xfrm>
            <a:off x="13460701" y="2990236"/>
            <a:ext cx="2281014" cy="25553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1301" spc="0" baseline="5940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the model shares your meaning.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24353B3-12AF-5D97-EACD-824B1E2E96C5}"/>
              </a:ext>
            </a:extLst>
          </p:cNvPr>
          <p:cNvSpPr txBox="1"/>
          <p:nvPr/>
        </p:nvSpPr>
        <p:spPr>
          <a:xfrm>
            <a:off x="13460701" y="3187768"/>
            <a:ext cx="3285010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6B7177"/>
                </a:solidFill>
                <a:latin typeface="Arial"/>
                <a:cs typeface="Arial"/>
                <a:sym typeface="Arial"/>
                <a:rtl val="0"/>
              </a:rPr>
              <a:t>Why: shared definitions keep results consistent.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6ABF748A-6935-52BF-8296-57646563A5BF}"/>
              </a:ext>
            </a:extLst>
          </p:cNvPr>
          <p:cNvSpPr txBox="1"/>
          <p:nvPr/>
        </p:nvSpPr>
        <p:spPr>
          <a:xfrm>
            <a:off x="13460701" y="3382653"/>
            <a:ext cx="3846313" cy="244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08" b="1" spc="0" baseline="0">
                <a:ln/>
                <a:solidFill>
                  <a:srgbClr val="3B4E9B"/>
                </a:solidFill>
                <a:latin typeface="Arial"/>
                <a:cs typeface="Arial"/>
                <a:sym typeface="Arial"/>
                <a:rtl val="0"/>
              </a:rPr>
              <a:t>Deeper: </a:t>
            </a:r>
            <a:r>
              <a:rPr lang="en-GB" sz="808" b="1" spc="0" baseline="0">
                <a:ln/>
                <a:solidFill>
                  <a:srgbClr val="8A9096"/>
                </a:solidFill>
                <a:latin typeface="Arial"/>
                <a:cs typeface="Arial"/>
                <a:sym typeface="Arial"/>
                <a:rtl val="0"/>
              </a:rPr>
              <a:t>cheap calibration — it lifts model–coder agreement.</a:t>
            </a:r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1F8A7E4B-5113-F0AE-AD13-62E767B371C6}"/>
              </a:ext>
            </a:extLst>
          </p:cNvPr>
          <p:cNvSpPr/>
          <p:nvPr/>
        </p:nvSpPr>
        <p:spPr>
          <a:xfrm>
            <a:off x="1182644" y="3098969"/>
            <a:ext cx="4811262" cy="1181816"/>
          </a:xfrm>
          <a:prstGeom prst="roundRect">
            <a:avLst>
              <a:gd name="adj" fmla="val 8570"/>
            </a:avLst>
          </a:prstGeom>
          <a:solidFill>
            <a:srgbClr val="FFFFFF"/>
          </a:solidFill>
          <a:ln w="16881" cap="flat">
            <a:solidFill>
              <a:srgbClr val="E4E7EA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925D7670-8BC9-5AEB-AAAD-700113BD3A92}"/>
              </a:ext>
            </a:extLst>
          </p:cNvPr>
          <p:cNvSpPr/>
          <p:nvPr/>
        </p:nvSpPr>
        <p:spPr>
          <a:xfrm>
            <a:off x="1244055" y="3098969"/>
            <a:ext cx="59085" cy="1181816"/>
          </a:xfrm>
          <a:prstGeom prst="roundRect">
            <a:avLst>
              <a:gd name="adj" fmla="val 50000"/>
            </a:avLst>
          </a:prstGeom>
          <a:solidFill>
            <a:srgbClr val="B8761A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FB44B43E-8F0A-CE50-ABBD-6DC2C4B36F0E}"/>
              </a:ext>
            </a:extLst>
          </p:cNvPr>
          <p:cNvSpPr/>
          <p:nvPr/>
        </p:nvSpPr>
        <p:spPr>
          <a:xfrm>
            <a:off x="1353708" y="3113211"/>
            <a:ext cx="236342" cy="236363"/>
          </a:xfrm>
          <a:prstGeom prst="ellipse">
            <a:avLst/>
          </a:prstGeom>
          <a:solidFill>
            <a:srgbClr val="B8761A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8C8653F8-2C28-C675-58DE-FCC67A6A6244}"/>
              </a:ext>
            </a:extLst>
          </p:cNvPr>
          <p:cNvSpPr txBox="1"/>
          <p:nvPr/>
        </p:nvSpPr>
        <p:spPr>
          <a:xfrm>
            <a:off x="1350395" y="3130064"/>
            <a:ext cx="242967" cy="2121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638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3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655FF65B-B7D8-1D1D-80E2-A2556DF0199E}"/>
              </a:ext>
            </a:extLst>
          </p:cNvPr>
          <p:cNvSpPr txBox="1"/>
          <p:nvPr/>
        </p:nvSpPr>
        <p:spPr>
          <a:xfrm>
            <a:off x="1616782" y="3092654"/>
            <a:ext cx="1890240" cy="2687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37" b="1" spc="0" baseline="0">
                <a:ln/>
                <a:solidFill>
                  <a:srgbClr val="9A6314"/>
                </a:solidFill>
                <a:latin typeface="Arial"/>
                <a:cs typeface="Arial"/>
                <a:sym typeface="Arial"/>
                <a:rtl val="0"/>
              </a:rPr>
              <a:t>OFFER A FIXED MENU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6979CA3F-22A5-6B3F-C648-DE7252E17EE7}"/>
              </a:ext>
            </a:extLst>
          </p:cNvPr>
          <p:cNvSpPr txBox="1"/>
          <p:nvPr/>
        </p:nvSpPr>
        <p:spPr>
          <a:xfrm>
            <a:off x="1279149" y="3356599"/>
            <a:ext cx="3586710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Give a closed list of claim types to pick from, instead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2B83B2B3-BFEE-6404-017D-0BBD71FD619A}"/>
              </a:ext>
            </a:extLst>
          </p:cNvPr>
          <p:cNvSpPr txBox="1"/>
          <p:nvPr/>
        </p:nvSpPr>
        <p:spPr>
          <a:xfrm>
            <a:off x="1279149" y="3530495"/>
            <a:ext cx="1391116" cy="25553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1301" spc="0" baseline="5940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of free description.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829F07D1-30DE-7B6C-5363-FEEAA52D4B0B}"/>
              </a:ext>
            </a:extLst>
          </p:cNvPr>
          <p:cNvSpPr txBox="1"/>
          <p:nvPr/>
        </p:nvSpPr>
        <p:spPr>
          <a:xfrm>
            <a:off x="1279149" y="3728027"/>
            <a:ext cx="3072879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6B7177"/>
                </a:solidFill>
                <a:latin typeface="Arial"/>
                <a:cs typeface="Arial"/>
                <a:sym typeface="Arial"/>
                <a:rtl val="0"/>
              </a:rPr>
              <a:t>Why: fixed sets turn text into countable data.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88AAA1C6-5FB8-328F-AFF7-6C56530FDBE4}"/>
              </a:ext>
            </a:extLst>
          </p:cNvPr>
          <p:cNvSpPr txBox="1"/>
          <p:nvPr/>
        </p:nvSpPr>
        <p:spPr>
          <a:xfrm>
            <a:off x="1279149" y="3922911"/>
            <a:ext cx="3846448" cy="244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08" b="1" spc="0" baseline="0">
                <a:ln/>
                <a:solidFill>
                  <a:srgbClr val="9A6314"/>
                </a:solidFill>
                <a:latin typeface="Arial"/>
                <a:cs typeface="Arial"/>
                <a:sym typeface="Arial"/>
                <a:rtl val="0"/>
              </a:rPr>
              <a:t>Deeper: </a:t>
            </a:r>
            <a:r>
              <a:rPr lang="en-GB" sz="808" b="1" spc="0" baseline="0">
                <a:ln/>
                <a:solidFill>
                  <a:srgbClr val="8A9096"/>
                </a:solidFill>
                <a:latin typeface="Arial"/>
                <a:cs typeface="Arial"/>
                <a:sym typeface="Arial"/>
                <a:rtl val="0"/>
              </a:rPr>
              <a:t>a controlled vocabulary makes outputs computable.</a:t>
            </a:r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1D496F79-436F-AA6E-2ED8-069525C7D839}"/>
              </a:ext>
            </a:extLst>
          </p:cNvPr>
          <p:cNvSpPr/>
          <p:nvPr/>
        </p:nvSpPr>
        <p:spPr>
          <a:xfrm>
            <a:off x="13349561" y="3923599"/>
            <a:ext cx="3338239" cy="1181816"/>
          </a:xfrm>
          <a:prstGeom prst="roundRect">
            <a:avLst>
              <a:gd name="adj" fmla="val 8570"/>
            </a:avLst>
          </a:prstGeom>
          <a:solidFill>
            <a:srgbClr val="FFFFFF"/>
          </a:solidFill>
          <a:ln w="16881" cap="flat">
            <a:solidFill>
              <a:srgbClr val="E4E7EA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CA30B634-894D-0F00-1B2D-E8402BC67379}"/>
              </a:ext>
            </a:extLst>
          </p:cNvPr>
          <p:cNvSpPr/>
          <p:nvPr/>
        </p:nvSpPr>
        <p:spPr>
          <a:xfrm>
            <a:off x="13349561" y="3923599"/>
            <a:ext cx="59085" cy="1181816"/>
          </a:xfrm>
          <a:prstGeom prst="roundRect">
            <a:avLst>
              <a:gd name="adj" fmla="val 50000"/>
            </a:avLst>
          </a:prstGeom>
          <a:solidFill>
            <a:srgbClr val="9C2C57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1461FC3F-4BE7-19DE-189A-F033AE542524}"/>
              </a:ext>
            </a:extLst>
          </p:cNvPr>
          <p:cNvSpPr/>
          <p:nvPr/>
        </p:nvSpPr>
        <p:spPr>
          <a:xfrm>
            <a:off x="13535259" y="4075547"/>
            <a:ext cx="236342" cy="236363"/>
          </a:xfrm>
          <a:prstGeom prst="ellipse">
            <a:avLst/>
          </a:prstGeom>
          <a:solidFill>
            <a:srgbClr val="9C2C57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E0FA246A-6774-03B8-3C66-6F82B33072CC}"/>
              </a:ext>
            </a:extLst>
          </p:cNvPr>
          <p:cNvSpPr txBox="1"/>
          <p:nvPr/>
        </p:nvSpPr>
        <p:spPr>
          <a:xfrm>
            <a:off x="13531947" y="4092400"/>
            <a:ext cx="242967" cy="2121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638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4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0C1F9BAE-86A1-2183-8A06-BB986F9C56D9}"/>
              </a:ext>
            </a:extLst>
          </p:cNvPr>
          <p:cNvSpPr txBox="1"/>
          <p:nvPr/>
        </p:nvSpPr>
        <p:spPr>
          <a:xfrm>
            <a:off x="13798333" y="4054990"/>
            <a:ext cx="1699242" cy="2687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37" b="1" spc="0" baseline="0">
                <a:ln/>
                <a:solidFill>
                  <a:srgbClr val="9C2C57"/>
                </a:solidFill>
                <a:latin typeface="Arial"/>
                <a:cs typeface="Arial"/>
                <a:sym typeface="Arial"/>
                <a:rtl val="0"/>
              </a:rPr>
              <a:t>FORBID INVENTING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79DAF62F-3208-98A6-C494-27F4EB1BCBEF}"/>
              </a:ext>
            </a:extLst>
          </p:cNvPr>
          <p:cNvSpPr txBox="1"/>
          <p:nvPr/>
        </p:nvSpPr>
        <p:spPr>
          <a:xfrm>
            <a:off x="13460701" y="4318935"/>
            <a:ext cx="3661147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Say when to leave a field blank, and ban making up a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8292CF70-BFAA-12CD-0C2D-C93265C19D51}"/>
              </a:ext>
            </a:extLst>
          </p:cNvPr>
          <p:cNvSpPr txBox="1"/>
          <p:nvPr/>
        </p:nvSpPr>
        <p:spPr>
          <a:xfrm>
            <a:off x="13460701" y="4492831"/>
            <a:ext cx="1402806" cy="25553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1301" spc="0" baseline="5940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link that isn't there.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E04B7FB9-7F4A-5357-3B6E-9BC0A4B56B74}"/>
              </a:ext>
            </a:extLst>
          </p:cNvPr>
          <p:cNvSpPr txBox="1"/>
          <p:nvPr/>
        </p:nvSpPr>
        <p:spPr>
          <a:xfrm>
            <a:off x="13460701" y="4690363"/>
            <a:ext cx="3758464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6B7177"/>
                </a:solidFill>
                <a:latin typeface="Arial"/>
                <a:cs typeface="Arial"/>
                <a:sym typeface="Arial"/>
                <a:rtl val="0"/>
              </a:rPr>
              <a:t>Why: limits are your defence against made-up findings.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2CA5F035-D6DA-97B3-D287-EDEB3C59E6B4}"/>
              </a:ext>
            </a:extLst>
          </p:cNvPr>
          <p:cNvSpPr txBox="1"/>
          <p:nvPr/>
        </p:nvSpPr>
        <p:spPr>
          <a:xfrm>
            <a:off x="13460701" y="4885248"/>
            <a:ext cx="3636861" cy="244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08" b="1" spc="0" baseline="0">
                <a:ln/>
                <a:solidFill>
                  <a:srgbClr val="9C2C57"/>
                </a:solidFill>
                <a:latin typeface="Arial"/>
                <a:cs typeface="Arial"/>
                <a:sym typeface="Arial"/>
                <a:rtl val="0"/>
              </a:rPr>
              <a:t>Deeper: </a:t>
            </a:r>
            <a:r>
              <a:rPr lang="en-GB" sz="808" b="1" spc="0" baseline="0">
                <a:ln/>
                <a:solidFill>
                  <a:srgbClr val="8A9096"/>
                </a:solidFill>
                <a:latin typeface="Arial"/>
                <a:cs typeface="Arial"/>
                <a:sym typeface="Arial"/>
                <a:rtl val="0"/>
              </a:rPr>
              <a:t>also catch polarity flips — "X does not cause Y".</a:t>
            </a:r>
          </a:p>
        </p:txBody>
      </p: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DAE415AF-07F0-1FC2-FEA8-861983844498}"/>
              </a:ext>
            </a:extLst>
          </p:cNvPr>
          <p:cNvSpPr/>
          <p:nvPr/>
        </p:nvSpPr>
        <p:spPr>
          <a:xfrm>
            <a:off x="1168010" y="5443078"/>
            <a:ext cx="4811262" cy="1181816"/>
          </a:xfrm>
          <a:prstGeom prst="roundRect">
            <a:avLst>
              <a:gd name="adj" fmla="val 8570"/>
            </a:avLst>
          </a:prstGeom>
          <a:solidFill>
            <a:srgbClr val="FFFFFF"/>
          </a:solidFill>
          <a:ln w="16881" cap="flat">
            <a:solidFill>
              <a:srgbClr val="E4E7EA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607AF4A6-42E2-42DC-EFAD-C8155A741917}"/>
              </a:ext>
            </a:extLst>
          </p:cNvPr>
          <p:cNvSpPr/>
          <p:nvPr/>
        </p:nvSpPr>
        <p:spPr>
          <a:xfrm>
            <a:off x="1168010" y="5443078"/>
            <a:ext cx="59085" cy="1181816"/>
          </a:xfrm>
          <a:prstGeom prst="roundRect">
            <a:avLst>
              <a:gd name="adj" fmla="val 50000"/>
            </a:avLst>
          </a:prstGeom>
          <a:solidFill>
            <a:srgbClr val="2E7D55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24AB66C8-3E09-FDFE-05AD-820FD8180382}"/>
              </a:ext>
            </a:extLst>
          </p:cNvPr>
          <p:cNvSpPr/>
          <p:nvPr/>
        </p:nvSpPr>
        <p:spPr>
          <a:xfrm>
            <a:off x="1353708" y="5595025"/>
            <a:ext cx="236342" cy="236363"/>
          </a:xfrm>
          <a:prstGeom prst="ellipse">
            <a:avLst/>
          </a:prstGeom>
          <a:solidFill>
            <a:srgbClr val="2E7D55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E8AE5B38-ACF7-94CC-D97F-F0BF2705E784}"/>
              </a:ext>
            </a:extLst>
          </p:cNvPr>
          <p:cNvSpPr txBox="1"/>
          <p:nvPr/>
        </p:nvSpPr>
        <p:spPr>
          <a:xfrm>
            <a:off x="1350395" y="5611878"/>
            <a:ext cx="242967" cy="212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638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5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4D8EC16B-D9F8-F921-208E-AA8BE7A29262}"/>
              </a:ext>
            </a:extLst>
          </p:cNvPr>
          <p:cNvSpPr txBox="1"/>
          <p:nvPr/>
        </p:nvSpPr>
        <p:spPr>
          <a:xfrm>
            <a:off x="1616782" y="5574468"/>
            <a:ext cx="2580622" cy="268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37" b="1" spc="0" baseline="0">
                <a:ln/>
                <a:solidFill>
                  <a:srgbClr val="236343"/>
                </a:solidFill>
                <a:latin typeface="Arial"/>
                <a:cs typeface="Arial"/>
                <a:sym typeface="Arial"/>
                <a:rtl val="0"/>
              </a:rPr>
              <a:t>TRACK WHERE IT CAME FROM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9BF9E14-005C-2F67-25F1-543D987B34F2}"/>
              </a:ext>
            </a:extLst>
          </p:cNvPr>
          <p:cNvSpPr txBox="1"/>
          <p:nvPr/>
        </p:nvSpPr>
        <p:spPr>
          <a:xfrm>
            <a:off x="1279149" y="5838413"/>
            <a:ext cx="3647666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Separate the author's own claim from views they only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DA669338-EB78-8323-50F6-07F549BCAB64}"/>
              </a:ext>
            </a:extLst>
          </p:cNvPr>
          <p:cNvSpPr txBox="1"/>
          <p:nvPr/>
        </p:nvSpPr>
        <p:spPr>
          <a:xfrm>
            <a:off x="1279149" y="6012309"/>
            <a:ext cx="1154029" cy="25553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1301" spc="0" baseline="5940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cite or criticise.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F57445CA-FE78-01C0-0296-D0C41B879A22}"/>
              </a:ext>
            </a:extLst>
          </p:cNvPr>
          <p:cNvSpPr txBox="1"/>
          <p:nvPr/>
        </p:nvSpPr>
        <p:spPr>
          <a:xfrm>
            <a:off x="1279149" y="6209841"/>
            <a:ext cx="3007189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6B7177"/>
                </a:solidFill>
                <a:latin typeface="Arial"/>
                <a:cs typeface="Arial"/>
                <a:sym typeface="Arial"/>
                <a:rtl val="0"/>
              </a:rPr>
              <a:t>Why: who-said-what is basic accountability.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64E9FF29-C1E4-5555-7AD9-DB1C875963C9}"/>
              </a:ext>
            </a:extLst>
          </p:cNvPr>
          <p:cNvSpPr txBox="1"/>
          <p:nvPr/>
        </p:nvSpPr>
        <p:spPr>
          <a:xfrm>
            <a:off x="1279149" y="6404726"/>
            <a:ext cx="3215355" cy="244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08" b="1" spc="0" baseline="0">
                <a:ln/>
                <a:solidFill>
                  <a:srgbClr val="236343"/>
                </a:solidFill>
                <a:latin typeface="Arial"/>
                <a:cs typeface="Arial"/>
                <a:sym typeface="Arial"/>
                <a:rtl val="0"/>
              </a:rPr>
              <a:t>Deeper: </a:t>
            </a:r>
            <a:r>
              <a:rPr lang="en-GB" sz="808" b="1" spc="0" baseline="0">
                <a:ln/>
                <a:solidFill>
                  <a:srgbClr val="8A9096"/>
                </a:solidFill>
                <a:latin typeface="Arial"/>
                <a:cs typeface="Arial"/>
                <a:sym typeface="Arial"/>
                <a:rtl val="0"/>
              </a:rPr>
              <a:t>stops over-extraction inflating the results.</a:t>
            </a:r>
          </a:p>
        </p:txBody>
      </p: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4467658F-DDEC-DC4B-1345-94DA0E0F45B3}"/>
              </a:ext>
            </a:extLst>
          </p:cNvPr>
          <p:cNvSpPr/>
          <p:nvPr/>
        </p:nvSpPr>
        <p:spPr>
          <a:xfrm>
            <a:off x="13349561" y="6304115"/>
            <a:ext cx="3338239" cy="1181816"/>
          </a:xfrm>
          <a:prstGeom prst="roundRect">
            <a:avLst>
              <a:gd name="adj" fmla="val 8570"/>
            </a:avLst>
          </a:prstGeom>
          <a:solidFill>
            <a:srgbClr val="FFFFFF"/>
          </a:solidFill>
          <a:ln w="16881" cap="flat">
            <a:solidFill>
              <a:srgbClr val="E4E7EA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09" name="Rectangle: Rounded Corners 208">
            <a:extLst>
              <a:ext uri="{FF2B5EF4-FFF2-40B4-BE49-F238E27FC236}">
                <a16:creationId xmlns:a16="http://schemas.microsoft.com/office/drawing/2014/main" id="{0B29156B-E78F-05EB-EE9D-7DA207A9D498}"/>
              </a:ext>
            </a:extLst>
          </p:cNvPr>
          <p:cNvSpPr/>
          <p:nvPr/>
        </p:nvSpPr>
        <p:spPr>
          <a:xfrm>
            <a:off x="13349561" y="6304115"/>
            <a:ext cx="59085" cy="1181816"/>
          </a:xfrm>
          <a:prstGeom prst="roundRect">
            <a:avLst>
              <a:gd name="adj" fmla="val 50000"/>
            </a:avLst>
          </a:prstGeom>
          <a:solidFill>
            <a:srgbClr val="1F6E8C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0908EF43-E417-E2A8-E202-CC15E17B132D}"/>
              </a:ext>
            </a:extLst>
          </p:cNvPr>
          <p:cNvSpPr/>
          <p:nvPr/>
        </p:nvSpPr>
        <p:spPr>
          <a:xfrm>
            <a:off x="13535259" y="6456063"/>
            <a:ext cx="236342" cy="236363"/>
          </a:xfrm>
          <a:prstGeom prst="ellipse">
            <a:avLst/>
          </a:prstGeom>
          <a:solidFill>
            <a:srgbClr val="1F6E8C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01886835-CE55-E26D-89EC-878D5517D1EA}"/>
              </a:ext>
            </a:extLst>
          </p:cNvPr>
          <p:cNvSpPr txBox="1"/>
          <p:nvPr/>
        </p:nvSpPr>
        <p:spPr>
          <a:xfrm>
            <a:off x="13531947" y="6472916"/>
            <a:ext cx="242967" cy="212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638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6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BFD38BC2-491B-80A0-E581-92D6623C2366}"/>
              </a:ext>
            </a:extLst>
          </p:cNvPr>
          <p:cNvSpPr txBox="1"/>
          <p:nvPr/>
        </p:nvSpPr>
        <p:spPr>
          <a:xfrm>
            <a:off x="13798333" y="6435506"/>
            <a:ext cx="1493444" cy="268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37" b="1" spc="0" baseline="0">
                <a:ln/>
                <a:solidFill>
                  <a:srgbClr val="1F6E8C"/>
                </a:solidFill>
                <a:latin typeface="Arial"/>
                <a:cs typeface="Arial"/>
                <a:sym typeface="Arial"/>
                <a:rtl val="0"/>
              </a:rPr>
              <a:t>TAG FOR REACH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E35A26A6-8F43-2A32-7478-52C1970975C4}"/>
              </a:ext>
            </a:extLst>
          </p:cNvPr>
          <p:cNvSpPr txBox="1"/>
          <p:nvPr/>
        </p:nvSpPr>
        <p:spPr>
          <a:xfrm>
            <a:off x="13460701" y="6699451"/>
            <a:ext cx="3521808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Label each claim with the disciplines and real-world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67E77D6F-12B5-47CC-A335-E72F84D2CF49}"/>
              </a:ext>
            </a:extLst>
          </p:cNvPr>
          <p:cNvSpPr txBox="1"/>
          <p:nvPr/>
        </p:nvSpPr>
        <p:spPr>
          <a:xfrm>
            <a:off x="13460701" y="6873347"/>
            <a:ext cx="1333888" cy="25553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1301" spc="0" baseline="5940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factors it touches.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732969A-3032-0B7F-C1E7-23AF1568A646}"/>
              </a:ext>
            </a:extLst>
          </p:cNvPr>
          <p:cNvSpPr txBox="1"/>
          <p:nvPr/>
        </p:nvSpPr>
        <p:spPr>
          <a:xfrm>
            <a:off x="13460701" y="7070879"/>
            <a:ext cx="3358300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6B7177"/>
                </a:solidFill>
                <a:latin typeface="Arial"/>
                <a:cs typeface="Arial"/>
                <a:sym typeface="Arial"/>
                <a:rtl val="0"/>
              </a:rPr>
              <a:t>Why: it stitches fields that rarely read each other.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35D2595-C639-F9ED-4D15-D1D0F6B9C297}"/>
              </a:ext>
            </a:extLst>
          </p:cNvPr>
          <p:cNvSpPr txBox="1"/>
          <p:nvPr/>
        </p:nvSpPr>
        <p:spPr>
          <a:xfrm>
            <a:off x="13460701" y="7265763"/>
            <a:ext cx="3854194" cy="244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08" b="1" spc="0" baseline="0">
                <a:ln/>
                <a:solidFill>
                  <a:srgbClr val="1F6E8C"/>
                </a:solidFill>
                <a:latin typeface="Arial"/>
                <a:cs typeface="Arial"/>
                <a:sym typeface="Arial"/>
                <a:rtl val="0"/>
              </a:rPr>
              <a:t>Deeper: </a:t>
            </a:r>
            <a:r>
              <a:rPr lang="en-GB" sz="808" b="1" spc="0" baseline="0">
                <a:ln/>
                <a:solidFill>
                  <a:srgbClr val="8A9096"/>
                </a:solidFill>
                <a:latin typeface="Arial"/>
                <a:cs typeface="Arial"/>
                <a:sym typeface="Arial"/>
                <a:rtl val="0"/>
              </a:rPr>
              <a:t>makes the corpus queryable; feeds hypothesis gen.</a:t>
            </a: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C28A824E-7172-C0DE-6475-B013188D1C9F}"/>
              </a:ext>
            </a:extLst>
          </p:cNvPr>
          <p:cNvSpPr/>
          <p:nvPr/>
        </p:nvSpPr>
        <p:spPr>
          <a:xfrm>
            <a:off x="1168010" y="8144372"/>
            <a:ext cx="4811262" cy="979219"/>
          </a:xfrm>
          <a:prstGeom prst="roundRect">
            <a:avLst>
              <a:gd name="adj" fmla="val 10343"/>
            </a:avLst>
          </a:prstGeom>
          <a:solidFill>
            <a:srgbClr val="FFFFFF"/>
          </a:solidFill>
          <a:ln w="16881" cap="flat">
            <a:solidFill>
              <a:srgbClr val="E4E7EA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C92E59F7-62B1-A76F-215B-CAAA4AB2EEFD}"/>
              </a:ext>
            </a:extLst>
          </p:cNvPr>
          <p:cNvSpPr/>
          <p:nvPr/>
        </p:nvSpPr>
        <p:spPr>
          <a:xfrm>
            <a:off x="1168010" y="8144372"/>
            <a:ext cx="59085" cy="979219"/>
          </a:xfrm>
          <a:prstGeom prst="roundRect">
            <a:avLst>
              <a:gd name="adj" fmla="val 50000"/>
            </a:avLst>
          </a:prstGeom>
          <a:solidFill>
            <a:srgbClr val="A23E2A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FC3FF11E-90AE-D653-592F-FED46CF93A59}"/>
              </a:ext>
            </a:extLst>
          </p:cNvPr>
          <p:cNvSpPr/>
          <p:nvPr/>
        </p:nvSpPr>
        <p:spPr>
          <a:xfrm>
            <a:off x="1353708" y="8296320"/>
            <a:ext cx="236342" cy="236363"/>
          </a:xfrm>
          <a:prstGeom prst="ellipse">
            <a:avLst/>
          </a:prstGeom>
          <a:solidFill>
            <a:srgbClr val="A23E2A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7E5A7C66-07ED-433F-88D9-7CA795BFA05E}"/>
              </a:ext>
            </a:extLst>
          </p:cNvPr>
          <p:cNvSpPr txBox="1"/>
          <p:nvPr/>
        </p:nvSpPr>
        <p:spPr>
          <a:xfrm>
            <a:off x="1350395" y="8313172"/>
            <a:ext cx="242967" cy="212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638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7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664B2D0-D247-9AE1-2082-94806F79325E}"/>
              </a:ext>
            </a:extLst>
          </p:cNvPr>
          <p:cNvSpPr txBox="1"/>
          <p:nvPr/>
        </p:nvSpPr>
        <p:spPr>
          <a:xfrm>
            <a:off x="1616782" y="8275762"/>
            <a:ext cx="2465868" cy="268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37" b="1" spc="0" baseline="0">
                <a:ln/>
                <a:solidFill>
                  <a:srgbClr val="A23E2A"/>
                </a:solidFill>
                <a:latin typeface="Arial"/>
                <a:cs typeface="Arial"/>
                <a:sym typeface="Arial"/>
                <a:rtl val="0"/>
              </a:rPr>
              <a:t>QUOTE, DON'T PARAPHRASE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BA162C6C-13E3-6684-3A5F-1F3C8C30E529}"/>
              </a:ext>
            </a:extLst>
          </p:cNvPr>
          <p:cNvSpPr txBox="1"/>
          <p:nvPr/>
        </p:nvSpPr>
        <p:spPr>
          <a:xfrm>
            <a:off x="1279149" y="8539708"/>
            <a:ext cx="3113325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Copy wording exactly; never tidy or reword it.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10AEFAB0-2797-7798-4D1A-801BCD73A9DE}"/>
              </a:ext>
            </a:extLst>
          </p:cNvPr>
          <p:cNvSpPr txBox="1"/>
          <p:nvPr/>
        </p:nvSpPr>
        <p:spPr>
          <a:xfrm>
            <a:off x="1279149" y="8725422"/>
            <a:ext cx="3644224" cy="255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6B7177"/>
                </a:solidFill>
                <a:latin typeface="Arial"/>
                <a:cs typeface="Arial"/>
                <a:sym typeface="Arial"/>
                <a:rtl val="0"/>
              </a:rPr>
              <a:t>Why: verbatim can be checked — evidence, not spin.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D48178F4-1482-6F54-24F7-5B421AA4D03C}"/>
              </a:ext>
            </a:extLst>
          </p:cNvPr>
          <p:cNvSpPr txBox="1"/>
          <p:nvPr/>
        </p:nvSpPr>
        <p:spPr>
          <a:xfrm>
            <a:off x="1279149" y="8920306"/>
            <a:ext cx="3557609" cy="244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08" b="1" spc="0" baseline="0">
                <a:ln/>
                <a:solidFill>
                  <a:srgbClr val="A23E2A"/>
                </a:solidFill>
                <a:latin typeface="Arial"/>
                <a:cs typeface="Arial"/>
                <a:sym typeface="Arial"/>
                <a:rtl val="0"/>
              </a:rPr>
              <a:t>Deeper: </a:t>
            </a:r>
            <a:r>
              <a:rPr lang="en-GB" sz="808" b="1" spc="0" baseline="0">
                <a:ln/>
                <a:solidFill>
                  <a:srgbClr val="8A9096"/>
                </a:solidFill>
                <a:latin typeface="Arial"/>
                <a:cs typeface="Arial"/>
                <a:sym typeface="Arial"/>
                <a:rtl val="0"/>
              </a:rPr>
              <a:t>paraphrase breaks automated string matching.</a:t>
            </a:r>
          </a:p>
        </p:txBody>
      </p:sp>
      <p:sp>
        <p:nvSpPr>
          <p:cNvPr id="225" name="Rectangle: Rounded Corners 224">
            <a:extLst>
              <a:ext uri="{FF2B5EF4-FFF2-40B4-BE49-F238E27FC236}">
                <a16:creationId xmlns:a16="http://schemas.microsoft.com/office/drawing/2014/main" id="{D1822A57-E6B2-E997-E2CA-EB7F63959A98}"/>
              </a:ext>
            </a:extLst>
          </p:cNvPr>
          <p:cNvSpPr/>
          <p:nvPr/>
        </p:nvSpPr>
        <p:spPr>
          <a:xfrm>
            <a:off x="13364279" y="8376745"/>
            <a:ext cx="3348922" cy="1181816"/>
          </a:xfrm>
          <a:prstGeom prst="roundRect">
            <a:avLst>
              <a:gd name="adj" fmla="val 8570"/>
            </a:avLst>
          </a:prstGeom>
          <a:solidFill>
            <a:srgbClr val="FFFFFF"/>
          </a:solidFill>
          <a:ln w="16881" cap="flat">
            <a:solidFill>
              <a:srgbClr val="E4E7EA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26" name="Rectangle: Rounded Corners 225">
            <a:extLst>
              <a:ext uri="{FF2B5EF4-FFF2-40B4-BE49-F238E27FC236}">
                <a16:creationId xmlns:a16="http://schemas.microsoft.com/office/drawing/2014/main" id="{87D6A6E8-13CF-7C33-F437-9C1F732ADFED}"/>
              </a:ext>
            </a:extLst>
          </p:cNvPr>
          <p:cNvSpPr/>
          <p:nvPr/>
        </p:nvSpPr>
        <p:spPr>
          <a:xfrm>
            <a:off x="13349561" y="8363852"/>
            <a:ext cx="59085" cy="1181816"/>
          </a:xfrm>
          <a:prstGeom prst="roundRect">
            <a:avLst>
              <a:gd name="adj" fmla="val 50000"/>
            </a:avLst>
          </a:prstGeom>
          <a:solidFill>
            <a:srgbClr val="6A4A9C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B774F918-B461-E377-0B62-2E5E8635574B}"/>
              </a:ext>
            </a:extLst>
          </p:cNvPr>
          <p:cNvSpPr/>
          <p:nvPr/>
        </p:nvSpPr>
        <p:spPr>
          <a:xfrm>
            <a:off x="13535259" y="8515800"/>
            <a:ext cx="236342" cy="236363"/>
          </a:xfrm>
          <a:prstGeom prst="ellipse">
            <a:avLst/>
          </a:prstGeom>
          <a:solidFill>
            <a:srgbClr val="6A4A9C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B6EAAF16-D540-48FB-713A-FA00D80CCC90}"/>
              </a:ext>
            </a:extLst>
          </p:cNvPr>
          <p:cNvSpPr txBox="1"/>
          <p:nvPr/>
        </p:nvSpPr>
        <p:spPr>
          <a:xfrm>
            <a:off x="13531947" y="8532652"/>
            <a:ext cx="242967" cy="212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638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8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A21147AE-DC79-FAE2-A074-E8C9B47092DE}"/>
              </a:ext>
            </a:extLst>
          </p:cNvPr>
          <p:cNvSpPr txBox="1"/>
          <p:nvPr/>
        </p:nvSpPr>
        <p:spPr>
          <a:xfrm>
            <a:off x="13798333" y="8495243"/>
            <a:ext cx="1634697" cy="268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37" b="1" spc="0" baseline="0">
                <a:ln/>
                <a:solidFill>
                  <a:srgbClr val="6A4A9C"/>
                </a:solidFill>
                <a:latin typeface="Arial"/>
                <a:cs typeface="Arial"/>
                <a:sym typeface="Arial"/>
                <a:rtl val="0"/>
              </a:rPr>
              <a:t>ASK FOR A SHAPE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6CC2381F-5D5A-7C42-5EB0-4ED63A3B7449}"/>
              </a:ext>
            </a:extLst>
          </p:cNvPr>
          <p:cNvSpPr txBox="1"/>
          <p:nvPr/>
        </p:nvSpPr>
        <p:spPr>
          <a:xfrm>
            <a:off x="13460701" y="8759188"/>
            <a:ext cx="3063659" cy="225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 dirty="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Demands the answer as JSON: a fixed, machine-readable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8A64A01D-7F71-3901-12EE-186A4DD8E73C}"/>
              </a:ext>
            </a:extLst>
          </p:cNvPr>
          <p:cNvSpPr txBox="1"/>
          <p:nvPr/>
        </p:nvSpPr>
        <p:spPr>
          <a:xfrm>
            <a:off x="13460701" y="8933084"/>
            <a:ext cx="1815447" cy="25553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1301" spc="0" baseline="5940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format with named fields.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D251FA89-DC08-E1CE-B254-2FF3C69A1DC8}"/>
              </a:ext>
            </a:extLst>
          </p:cNvPr>
          <p:cNvSpPr txBox="1"/>
          <p:nvPr/>
        </p:nvSpPr>
        <p:spPr>
          <a:xfrm>
            <a:off x="13460701" y="9130616"/>
            <a:ext cx="4069202" cy="25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6B7177"/>
                </a:solidFill>
                <a:latin typeface="Arial"/>
                <a:cs typeface="Arial"/>
                <a:sym typeface="Arial"/>
                <a:rtl val="0"/>
              </a:rPr>
              <a:t>Why: one shape lets many papers run through one pipeline.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A9789C10-4673-1ADD-8340-27525EC12E1D}"/>
              </a:ext>
            </a:extLst>
          </p:cNvPr>
          <p:cNvSpPr txBox="1"/>
          <p:nvPr/>
        </p:nvSpPr>
        <p:spPr>
          <a:xfrm>
            <a:off x="13460701" y="9325500"/>
            <a:ext cx="4032265" cy="244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08" b="1" spc="0" baseline="0">
                <a:ln/>
                <a:solidFill>
                  <a:srgbClr val="6A4A9C"/>
                </a:solidFill>
                <a:latin typeface="Arial"/>
                <a:cs typeface="Arial"/>
                <a:sym typeface="Arial"/>
                <a:rtl val="0"/>
              </a:rPr>
              <a:t>Deeper: </a:t>
            </a:r>
            <a:r>
              <a:rPr lang="en-GB" sz="808" b="1" spc="0" baseline="0">
                <a:ln/>
                <a:solidFill>
                  <a:srgbClr val="8A9096"/>
                </a:solidFill>
                <a:latin typeface="Arial"/>
                <a:cs typeface="Arial"/>
                <a:sym typeface="Arial"/>
                <a:rtl val="0"/>
              </a:rPr>
              <a:t>keep schema changes additive so parsers don't break.</a:t>
            </a:r>
          </a:p>
        </p:txBody>
      </p:sp>
      <p:sp>
        <p:nvSpPr>
          <p:cNvPr id="234" name="Rectangle: Rounded Corners 233">
            <a:extLst>
              <a:ext uri="{FF2B5EF4-FFF2-40B4-BE49-F238E27FC236}">
                <a16:creationId xmlns:a16="http://schemas.microsoft.com/office/drawing/2014/main" id="{010955D6-957A-0418-C634-0886ACAD2A5A}"/>
              </a:ext>
            </a:extLst>
          </p:cNvPr>
          <p:cNvSpPr/>
          <p:nvPr/>
        </p:nvSpPr>
        <p:spPr>
          <a:xfrm>
            <a:off x="1168010" y="13006701"/>
            <a:ext cx="4811262" cy="1080517"/>
          </a:xfrm>
          <a:prstGeom prst="roundRect">
            <a:avLst>
              <a:gd name="adj" fmla="val 9374"/>
            </a:avLst>
          </a:prstGeom>
          <a:solidFill>
            <a:srgbClr val="FFFFFF"/>
          </a:solidFill>
          <a:ln w="16881" cap="flat">
            <a:solidFill>
              <a:srgbClr val="E4E7EA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35" name="Rectangle: Rounded Corners 234">
            <a:extLst>
              <a:ext uri="{FF2B5EF4-FFF2-40B4-BE49-F238E27FC236}">
                <a16:creationId xmlns:a16="http://schemas.microsoft.com/office/drawing/2014/main" id="{B2662A51-FE97-023C-417E-7DA1553BAB9B}"/>
              </a:ext>
            </a:extLst>
          </p:cNvPr>
          <p:cNvSpPr/>
          <p:nvPr/>
        </p:nvSpPr>
        <p:spPr>
          <a:xfrm>
            <a:off x="1168010" y="13006701"/>
            <a:ext cx="59085" cy="1080517"/>
          </a:xfrm>
          <a:prstGeom prst="roundRect">
            <a:avLst>
              <a:gd name="adj" fmla="val 50000"/>
            </a:avLst>
          </a:prstGeom>
          <a:solidFill>
            <a:srgbClr val="4A5A66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F2B4C531-8683-933B-444F-764310726D2C}"/>
              </a:ext>
            </a:extLst>
          </p:cNvPr>
          <p:cNvSpPr/>
          <p:nvPr/>
        </p:nvSpPr>
        <p:spPr>
          <a:xfrm>
            <a:off x="1353708" y="13158649"/>
            <a:ext cx="236342" cy="236363"/>
          </a:xfrm>
          <a:prstGeom prst="ellipse">
            <a:avLst/>
          </a:prstGeom>
          <a:solidFill>
            <a:srgbClr val="4A5A66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18DF3BB5-6B0B-AA91-4C46-027EF5B1B5A7}"/>
              </a:ext>
            </a:extLst>
          </p:cNvPr>
          <p:cNvSpPr txBox="1"/>
          <p:nvPr/>
        </p:nvSpPr>
        <p:spPr>
          <a:xfrm>
            <a:off x="1350395" y="13175502"/>
            <a:ext cx="242967" cy="212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638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9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8FF9E901-C3FB-0859-07C6-CABF16683142}"/>
              </a:ext>
            </a:extLst>
          </p:cNvPr>
          <p:cNvSpPr txBox="1"/>
          <p:nvPr/>
        </p:nvSpPr>
        <p:spPr>
          <a:xfrm>
            <a:off x="1616782" y="13138092"/>
            <a:ext cx="3151370" cy="268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37" b="1" spc="0" baseline="0">
                <a:ln/>
                <a:solidFill>
                  <a:srgbClr val="3A4751"/>
                </a:solidFill>
                <a:latin typeface="Arial"/>
                <a:cs typeface="Arial"/>
                <a:sym typeface="Arial"/>
                <a:rtl val="0"/>
              </a:rPr>
              <a:t>PLAN FOR "NOTHING" &amp; TEMPLATE IT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A759E466-5049-19CD-15E3-EA3DC99EF67A}"/>
              </a:ext>
            </a:extLst>
          </p:cNvPr>
          <p:cNvSpPr txBox="1"/>
          <p:nvPr/>
        </p:nvSpPr>
        <p:spPr>
          <a:xfrm>
            <a:off x="1279149" y="13402038"/>
            <a:ext cx="3685101" cy="25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Say what to return when there are no claims; end with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4FA42DDB-8D82-F0A7-A9C8-593E85D0B97D}"/>
              </a:ext>
            </a:extLst>
          </p:cNvPr>
          <p:cNvSpPr txBox="1"/>
          <p:nvPr/>
        </p:nvSpPr>
        <p:spPr>
          <a:xfrm>
            <a:off x="1279149" y="13575933"/>
            <a:ext cx="3075604" cy="25553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1301" spc="0" baseline="59400">
                <a:ln/>
                <a:solidFill>
                  <a:srgbClr val="2C3640"/>
                </a:solidFill>
                <a:latin typeface="Arial"/>
                <a:cs typeface="Arial"/>
                <a:sym typeface="Arial"/>
                <a:rtl val="0"/>
              </a:rPr>
              <a:t>blank slots ({Title}, {Content}) to fill each run.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E6B2D8AB-1C49-BE09-F4DF-0A1D3C9D4518}"/>
              </a:ext>
            </a:extLst>
          </p:cNvPr>
          <p:cNvSpPr txBox="1"/>
          <p:nvPr/>
        </p:nvSpPr>
        <p:spPr>
          <a:xfrm>
            <a:off x="1279149" y="13773466"/>
            <a:ext cx="2758198" cy="25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6B7177"/>
                </a:solidFill>
                <a:latin typeface="Arial"/>
                <a:cs typeface="Arial"/>
                <a:sym typeface="Arial"/>
                <a:rtl val="0"/>
              </a:rPr>
              <a:t>Why: fallbacks + slots make it reusable.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75DB3774-A013-041E-87C6-32FEDDB35412}"/>
              </a:ext>
            </a:extLst>
          </p:cNvPr>
          <p:cNvSpPr txBox="1"/>
          <p:nvPr/>
        </p:nvSpPr>
        <p:spPr>
          <a:xfrm>
            <a:off x="1279149" y="9716939"/>
            <a:ext cx="1639058" cy="2611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97" b="1" spc="106" baseline="0">
                <a:ln/>
                <a:solidFill>
                  <a:srgbClr val="14706E"/>
                </a:solidFill>
                <a:latin typeface="Arial"/>
                <a:cs typeface="Arial"/>
                <a:sym typeface="Arial"/>
                <a:rtl val="0"/>
              </a:rPr>
              <a:t>THE AUDIT TRAIL</a:t>
            </a:r>
          </a:p>
        </p:txBody>
      </p:sp>
      <p:sp>
        <p:nvSpPr>
          <p:cNvPr id="243" name="Rectangle: Rounded Corners 242">
            <a:extLst>
              <a:ext uri="{FF2B5EF4-FFF2-40B4-BE49-F238E27FC236}">
                <a16:creationId xmlns:a16="http://schemas.microsoft.com/office/drawing/2014/main" id="{8508FA95-6CFD-5062-09BE-0CA1835F791F}"/>
              </a:ext>
            </a:extLst>
          </p:cNvPr>
          <p:cNvSpPr/>
          <p:nvPr/>
        </p:nvSpPr>
        <p:spPr>
          <a:xfrm>
            <a:off x="1877038" y="10069044"/>
            <a:ext cx="2279019" cy="405194"/>
          </a:xfrm>
          <a:prstGeom prst="roundRect">
            <a:avLst>
              <a:gd name="adj" fmla="val 20831"/>
            </a:avLst>
          </a:prstGeom>
          <a:solidFill>
            <a:srgbClr val="FFFFFF"/>
          </a:solidFill>
          <a:ln w="16881" cap="flat">
            <a:solidFill>
              <a:srgbClr val="4A5A66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D04C84EE-1F41-D870-0DF5-8309B58886C9}"/>
              </a:ext>
            </a:extLst>
          </p:cNvPr>
          <p:cNvSpPr txBox="1"/>
          <p:nvPr/>
        </p:nvSpPr>
        <p:spPr>
          <a:xfrm>
            <a:off x="2444861" y="10145130"/>
            <a:ext cx="1126491" cy="2536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57" b="1" spc="0" baseline="0">
                <a:ln/>
                <a:solidFill>
                  <a:srgbClr val="3A4751"/>
                </a:solidFill>
                <a:latin typeface="Arial"/>
                <a:cs typeface="Arial"/>
                <a:sym typeface="Arial"/>
                <a:rtl val="0"/>
              </a:rPr>
              <a:t>CLAIM · id C1</a:t>
            </a:r>
          </a:p>
        </p:txBody>
      </p:sp>
      <p:sp>
        <p:nvSpPr>
          <p:cNvPr id="245" name="Freeform: Shape 244">
            <a:extLst>
              <a:ext uri="{FF2B5EF4-FFF2-40B4-BE49-F238E27FC236}">
                <a16:creationId xmlns:a16="http://schemas.microsoft.com/office/drawing/2014/main" id="{2B502C7C-77FB-8CF5-825A-DD7EF0CE8B55}"/>
              </a:ext>
            </a:extLst>
          </p:cNvPr>
          <p:cNvSpPr/>
          <p:nvPr/>
        </p:nvSpPr>
        <p:spPr>
          <a:xfrm>
            <a:off x="3008107" y="10474238"/>
            <a:ext cx="16881" cy="253246"/>
          </a:xfrm>
          <a:custGeom>
            <a:avLst/>
            <a:gdLst>
              <a:gd name="csX0" fmla="*/ 0 w 16881"/>
              <a:gd name="csY0" fmla="*/ 0 h 253246"/>
              <a:gd name="csX1" fmla="*/ 0 w 16881"/>
              <a:gd name="csY1" fmla="*/ 253246 h 253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6881" h="253246">
                <a:moveTo>
                  <a:pt x="0" y="0"/>
                </a:moveTo>
                <a:lnTo>
                  <a:pt x="0" y="253246"/>
                </a:lnTo>
              </a:path>
            </a:pathLst>
          </a:custGeom>
          <a:ln w="20257" cap="flat">
            <a:solidFill>
              <a:srgbClr val="6B7177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46" name="Freeform: Shape 245">
            <a:extLst>
              <a:ext uri="{FF2B5EF4-FFF2-40B4-BE49-F238E27FC236}">
                <a16:creationId xmlns:a16="http://schemas.microsoft.com/office/drawing/2014/main" id="{60155B76-F3DB-165E-9487-BAA2ED57CBB9}"/>
              </a:ext>
            </a:extLst>
          </p:cNvPr>
          <p:cNvSpPr/>
          <p:nvPr/>
        </p:nvSpPr>
        <p:spPr>
          <a:xfrm>
            <a:off x="2949021" y="10710601"/>
            <a:ext cx="118171" cy="84415"/>
          </a:xfrm>
          <a:custGeom>
            <a:avLst/>
            <a:gdLst>
              <a:gd name="csX0" fmla="*/ 59086 w 118171"/>
              <a:gd name="csY0" fmla="*/ 84415 h 84415"/>
              <a:gd name="csX1" fmla="*/ 0 w 118171"/>
              <a:gd name="csY1" fmla="*/ 0 h 84415"/>
              <a:gd name="csX2" fmla="*/ 118171 w 118171"/>
              <a:gd name="csY2" fmla="*/ 0 h 844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8171" h="84415">
                <a:moveTo>
                  <a:pt x="59086" y="84415"/>
                </a:moveTo>
                <a:lnTo>
                  <a:pt x="0" y="0"/>
                </a:lnTo>
                <a:lnTo>
                  <a:pt x="118171" y="0"/>
                </a:lnTo>
                <a:close/>
              </a:path>
            </a:pathLst>
          </a:custGeom>
          <a:solidFill>
            <a:srgbClr val="6B7177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19704359-B3FF-2EFD-E39D-99895DF04CC5}"/>
              </a:ext>
            </a:extLst>
          </p:cNvPr>
          <p:cNvSpPr txBox="1"/>
          <p:nvPr/>
        </p:nvSpPr>
        <p:spPr>
          <a:xfrm>
            <a:off x="3034838" y="10507245"/>
            <a:ext cx="655911" cy="2234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698" spc="0" baseline="0">
                <a:ln/>
                <a:solidFill>
                  <a:srgbClr val="8A9096"/>
                </a:solidFill>
                <a:latin typeface="Arial"/>
                <a:cs typeface="Arial"/>
                <a:sym typeface="Arial"/>
                <a:rtl val="0"/>
              </a:rPr>
              <a:t>evidence</a:t>
            </a:r>
          </a:p>
        </p:txBody>
      </p:sp>
      <p:sp>
        <p:nvSpPr>
          <p:cNvPr id="248" name="Rectangle: Rounded Corners 247">
            <a:extLst>
              <a:ext uri="{FF2B5EF4-FFF2-40B4-BE49-F238E27FC236}">
                <a16:creationId xmlns:a16="http://schemas.microsoft.com/office/drawing/2014/main" id="{B5E7AF3F-AC83-3DB2-F43C-8FF0544D0C35}"/>
              </a:ext>
            </a:extLst>
          </p:cNvPr>
          <p:cNvSpPr/>
          <p:nvPr/>
        </p:nvSpPr>
        <p:spPr>
          <a:xfrm>
            <a:off x="1370589" y="10795017"/>
            <a:ext cx="3376324" cy="607791"/>
          </a:xfrm>
          <a:prstGeom prst="roundRect">
            <a:avLst>
              <a:gd name="adj" fmla="val 13887"/>
            </a:avLst>
          </a:prstGeom>
          <a:solidFill>
            <a:srgbClr val="FFFFFF"/>
          </a:solidFill>
          <a:ln w="16881" cap="flat">
            <a:solidFill>
              <a:srgbClr val="14706E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E21E3B21-36E8-9DEA-0B44-D872B7396D4E}"/>
              </a:ext>
            </a:extLst>
          </p:cNvPr>
          <p:cNvSpPr txBox="1"/>
          <p:nvPr/>
        </p:nvSpPr>
        <p:spPr>
          <a:xfrm>
            <a:off x="2372393" y="10857276"/>
            <a:ext cx="1372718" cy="249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37" b="1" spc="0" baseline="0">
                <a:ln/>
                <a:solidFill>
                  <a:srgbClr val="0E5F5C"/>
                </a:solidFill>
                <a:latin typeface="Arial"/>
                <a:cs typeface="Arial"/>
                <a:sym typeface="Arial"/>
                <a:rtl val="0"/>
              </a:rPr>
              <a:t>EVIDENCE · id E1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99651AB3-5B11-0BCC-ED56-0C74F744CDBE}"/>
              </a:ext>
            </a:extLst>
          </p:cNvPr>
          <p:cNvSpPr txBox="1"/>
          <p:nvPr/>
        </p:nvSpPr>
        <p:spPr>
          <a:xfrm>
            <a:off x="2090134" y="11072100"/>
            <a:ext cx="1937236" cy="234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758" spc="0" baseline="0">
                <a:ln/>
                <a:solidFill>
                  <a:srgbClr val="5A6570"/>
                </a:solidFill>
                <a:latin typeface="Arial"/>
                <a:cs typeface="Arial"/>
                <a:sym typeface="Arial"/>
                <a:rtl val="0"/>
              </a:rPr>
              <a:t>type · strength · support_mode</a:t>
            </a:r>
          </a:p>
        </p:txBody>
      </p:sp>
      <p:sp>
        <p:nvSpPr>
          <p:cNvPr id="251" name="Freeform: Shape 250">
            <a:extLst>
              <a:ext uri="{FF2B5EF4-FFF2-40B4-BE49-F238E27FC236}">
                <a16:creationId xmlns:a16="http://schemas.microsoft.com/office/drawing/2014/main" id="{09AF8631-05BD-FC01-F04A-D396652899FA}"/>
              </a:ext>
            </a:extLst>
          </p:cNvPr>
          <p:cNvSpPr/>
          <p:nvPr/>
        </p:nvSpPr>
        <p:spPr>
          <a:xfrm>
            <a:off x="4206702" y="10220992"/>
            <a:ext cx="870509" cy="776622"/>
          </a:xfrm>
          <a:custGeom>
            <a:avLst/>
            <a:gdLst>
              <a:gd name="csX0" fmla="*/ 540212 w 870509"/>
              <a:gd name="csY0" fmla="*/ 776622 h 776622"/>
              <a:gd name="csX1" fmla="*/ 0 w 870509"/>
              <a:gd name="csY1" fmla="*/ 0 h 77662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70509" h="776622">
                <a:moveTo>
                  <a:pt x="540212" y="776622"/>
                </a:moveTo>
                <a:cubicBezTo>
                  <a:pt x="1046661" y="624674"/>
                  <a:pt x="1046661" y="16883"/>
                  <a:pt x="0" y="0"/>
                </a:cubicBezTo>
              </a:path>
            </a:pathLst>
          </a:custGeom>
          <a:noFill/>
          <a:ln w="18569" cap="flat">
            <a:solidFill>
              <a:srgbClr val="14706E"/>
            </a:solidFill>
            <a:custDash>
              <a:ds d="225000" sp="150000"/>
            </a:custDash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52" name="Freeform: Shape 251">
            <a:extLst>
              <a:ext uri="{FF2B5EF4-FFF2-40B4-BE49-F238E27FC236}">
                <a16:creationId xmlns:a16="http://schemas.microsoft.com/office/drawing/2014/main" id="{D04A2BFD-C180-1B26-9A2F-245DB37F7F5D}"/>
              </a:ext>
            </a:extLst>
          </p:cNvPr>
          <p:cNvSpPr/>
          <p:nvPr/>
        </p:nvSpPr>
        <p:spPr>
          <a:xfrm>
            <a:off x="4156057" y="10153459"/>
            <a:ext cx="118171" cy="118181"/>
          </a:xfrm>
          <a:custGeom>
            <a:avLst/>
            <a:gdLst>
              <a:gd name="csX0" fmla="*/ 118171 w 118171"/>
              <a:gd name="csY0" fmla="*/ 0 h 118181"/>
              <a:gd name="csX1" fmla="*/ 0 w 118171"/>
              <a:gd name="csY1" fmla="*/ 67532 h 118181"/>
              <a:gd name="csX2" fmla="*/ 101290 w 118171"/>
              <a:gd name="csY2" fmla="*/ 118182 h 1181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18171" h="118181">
                <a:moveTo>
                  <a:pt x="118171" y="0"/>
                </a:moveTo>
                <a:lnTo>
                  <a:pt x="0" y="67532"/>
                </a:lnTo>
                <a:lnTo>
                  <a:pt x="101290" y="118182"/>
                </a:lnTo>
                <a:close/>
              </a:path>
            </a:pathLst>
          </a:custGeom>
          <a:solidFill>
            <a:srgbClr val="14706E"/>
          </a:solidFill>
          <a:ln w="16881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F5FEDA06-FE90-48A8-61C4-08B13C3E7FEA}"/>
              </a:ext>
            </a:extLst>
          </p:cNvPr>
          <p:cNvSpPr txBox="1"/>
          <p:nvPr/>
        </p:nvSpPr>
        <p:spPr>
          <a:xfrm>
            <a:off x="4756764" y="10496476"/>
            <a:ext cx="1080867" cy="215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658" spc="0" baseline="0">
                <a:ln/>
                <a:solidFill>
                  <a:srgbClr val="14706E"/>
                </a:solidFill>
                <a:latin typeface="Arial"/>
                <a:cs typeface="Arial"/>
                <a:sym typeface="Arial"/>
                <a:rtl val="0"/>
              </a:rPr>
              <a:t>supporting_claims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8187A9F0-45F4-0019-45AC-F6331AA5C0B4}"/>
              </a:ext>
            </a:extLst>
          </p:cNvPr>
          <p:cNvSpPr txBox="1"/>
          <p:nvPr/>
        </p:nvSpPr>
        <p:spPr>
          <a:xfrm>
            <a:off x="1279149" y="11612430"/>
            <a:ext cx="2626040" cy="225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 dirty="0">
                <a:ln/>
                <a:solidFill>
                  <a:srgbClr val="6B7177"/>
                </a:solidFill>
                <a:latin typeface="Arial"/>
                <a:cs typeface="Arial"/>
                <a:sym typeface="Arial"/>
                <a:rtl val="0"/>
              </a:rPr>
              <a:t>Every claim ships with a checkable evidence trai</a:t>
            </a:r>
            <a:r>
              <a:rPr lang="en-GB" sz="867" dirty="0">
                <a:ln/>
                <a:solidFill>
                  <a:srgbClr val="6B7177"/>
                </a:solidFill>
                <a:latin typeface="Arial"/>
                <a:cs typeface="Arial"/>
                <a:sym typeface="Arial"/>
                <a:rtl val="0"/>
              </a:rPr>
              <a:t>l:</a:t>
            </a:r>
            <a:endParaRPr lang="en-GB" sz="867" spc="0" baseline="0" dirty="0">
              <a:ln/>
              <a:solidFill>
                <a:srgbClr val="6B7177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C989790D-065E-4C1B-37F1-EC72B931826F}"/>
              </a:ext>
            </a:extLst>
          </p:cNvPr>
          <p:cNvSpPr txBox="1"/>
          <p:nvPr/>
        </p:nvSpPr>
        <p:spPr>
          <a:xfrm>
            <a:off x="1279149" y="11798144"/>
            <a:ext cx="3962920" cy="25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67" spc="0" baseline="0">
                <a:ln/>
                <a:solidFill>
                  <a:srgbClr val="6B7177"/>
                </a:solidFill>
                <a:latin typeface="Arial"/>
                <a:cs typeface="Arial"/>
                <a:sym typeface="Arial"/>
                <a:rtl val="0"/>
              </a:rPr>
              <a:t>the links run both ways, so any output can be traced back.</a:t>
            </a:r>
          </a:p>
        </p:txBody>
      </p:sp>
      <p:sp>
        <p:nvSpPr>
          <p:cNvPr id="256" name="Rectangle: Rounded Corners 255">
            <a:extLst>
              <a:ext uri="{FF2B5EF4-FFF2-40B4-BE49-F238E27FC236}">
                <a16:creationId xmlns:a16="http://schemas.microsoft.com/office/drawing/2014/main" id="{0CF3CE66-EBB6-FE20-8B63-7C0C66FE7365}"/>
              </a:ext>
            </a:extLst>
          </p:cNvPr>
          <p:cNvSpPr/>
          <p:nvPr/>
        </p:nvSpPr>
        <p:spPr>
          <a:xfrm>
            <a:off x="13349561" y="9765148"/>
            <a:ext cx="3477939" cy="4153240"/>
          </a:xfrm>
          <a:prstGeom prst="roundRect">
            <a:avLst>
              <a:gd name="adj" fmla="val 2734"/>
            </a:avLst>
          </a:prstGeom>
          <a:solidFill>
            <a:srgbClr val="FFFFFF"/>
          </a:solidFill>
          <a:ln w="21945" cap="flat">
            <a:solidFill>
              <a:srgbClr val="B9BFC4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A166783-DC16-458A-89AC-9A5FEDDDCF9B}"/>
              </a:ext>
            </a:extLst>
          </p:cNvPr>
          <p:cNvSpPr txBox="1"/>
          <p:nvPr/>
        </p:nvSpPr>
        <p:spPr>
          <a:xfrm>
            <a:off x="13528227" y="9905851"/>
            <a:ext cx="2297913" cy="2989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097" b="1" spc="0" baseline="0">
                <a:ln/>
                <a:solidFill>
                  <a:srgbClr val="111418"/>
                </a:solidFill>
                <a:latin typeface="Arial"/>
                <a:cs typeface="Arial"/>
                <a:sym typeface="Arial"/>
                <a:rtl val="0"/>
              </a:rPr>
              <a:t>AUDIT &amp; PROVENANCE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2E23C122-67A9-25F3-8DD9-69A103CB5F31}"/>
              </a:ext>
            </a:extLst>
          </p:cNvPr>
          <p:cNvSpPr txBox="1"/>
          <p:nvPr/>
        </p:nvSpPr>
        <p:spPr>
          <a:xfrm>
            <a:off x="13528227" y="10157356"/>
            <a:ext cx="3088767" cy="2385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778" spc="0" baseline="0">
                <a:ln/>
                <a:solidFill>
                  <a:srgbClr val="8A9096"/>
                </a:solidFill>
                <a:latin typeface="Arial"/>
                <a:cs typeface="Arial"/>
                <a:sym typeface="Arial"/>
                <a:rtl val="0"/>
              </a:rPr>
              <a:t>Why these outputs can be trusted and re-checked</a:t>
            </a:r>
          </a:p>
        </p:txBody>
      </p:sp>
      <p:sp>
        <p:nvSpPr>
          <p:cNvPr id="259" name="Freeform: Shape 258">
            <a:extLst>
              <a:ext uri="{FF2B5EF4-FFF2-40B4-BE49-F238E27FC236}">
                <a16:creationId xmlns:a16="http://schemas.microsoft.com/office/drawing/2014/main" id="{B1780E22-BB3E-1AC3-8B34-1F16AA459020}"/>
              </a:ext>
            </a:extLst>
          </p:cNvPr>
          <p:cNvSpPr/>
          <p:nvPr/>
        </p:nvSpPr>
        <p:spPr>
          <a:xfrm>
            <a:off x="13619667" y="10440472"/>
            <a:ext cx="2801433" cy="87828"/>
          </a:xfrm>
          <a:custGeom>
            <a:avLst/>
            <a:gdLst>
              <a:gd name="csX0" fmla="*/ 0 w 4135997"/>
              <a:gd name="csY0" fmla="*/ 0 h 16883"/>
              <a:gd name="csX1" fmla="*/ 4135998 w 4135997"/>
              <a:gd name="csY1" fmla="*/ 0 h 168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135997" h="16883">
                <a:moveTo>
                  <a:pt x="0" y="0"/>
                </a:moveTo>
                <a:lnTo>
                  <a:pt x="4135998" y="0"/>
                </a:lnTo>
              </a:path>
            </a:pathLst>
          </a:custGeom>
          <a:ln w="16881" cap="flat">
            <a:solidFill>
              <a:srgbClr val="E2E5E8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4F6043BA-8282-6F18-85EB-6727335B79AB}"/>
              </a:ext>
            </a:extLst>
          </p:cNvPr>
          <p:cNvSpPr txBox="1"/>
          <p:nvPr/>
        </p:nvSpPr>
        <p:spPr>
          <a:xfrm>
            <a:off x="13528227" y="10550228"/>
            <a:ext cx="312706" cy="315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97" b="1" spc="0" baseline="0">
                <a:ln/>
                <a:solidFill>
                  <a:srgbClr val="14706E"/>
                </a:solidFill>
                <a:latin typeface="Segoe UI Symbol"/>
                <a:ea typeface="Segoe UI Symbol"/>
                <a:sym typeface="Segoe UI Symbol"/>
                <a:rtl val="0"/>
              </a:rPr>
              <a:t>✓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742F0527-FDC8-FA05-B071-531C68B387E1}"/>
              </a:ext>
            </a:extLst>
          </p:cNvPr>
          <p:cNvSpPr txBox="1"/>
          <p:nvPr/>
        </p:nvSpPr>
        <p:spPr>
          <a:xfrm>
            <a:off x="13781452" y="10597916"/>
            <a:ext cx="2098179" cy="2574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77" b="1" spc="0" baseline="0">
                <a:ln/>
                <a:solidFill>
                  <a:srgbClr val="111418"/>
                </a:solidFill>
                <a:latin typeface="Arial"/>
                <a:cs typeface="Arial"/>
                <a:sym typeface="Arial"/>
                <a:rtl val="0"/>
              </a:rPr>
              <a:t>Keeps qualitative meaning.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953839EA-1DF4-EB76-B901-24E7E8F9B0A1}"/>
              </a:ext>
            </a:extLst>
          </p:cNvPr>
          <p:cNvSpPr txBox="1"/>
          <p:nvPr/>
        </p:nvSpPr>
        <p:spPr>
          <a:xfrm>
            <a:off x="13528227" y="10809684"/>
            <a:ext cx="3306934" cy="24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18" spc="0" baseline="0">
                <a:ln/>
                <a:solidFill>
                  <a:srgbClr val="4A5560"/>
                </a:solidFill>
                <a:latin typeface="Arial"/>
                <a:cs typeface="Arial"/>
                <a:sym typeface="Arial"/>
                <a:rtl val="0"/>
              </a:rPr>
              <a:t>Normative, interpretive, definitional and refutational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422D2D9E-6095-07C9-15C5-7A193F873DC3}"/>
              </a:ext>
            </a:extLst>
          </p:cNvPr>
          <p:cNvSpPr txBox="1"/>
          <p:nvPr/>
        </p:nvSpPr>
        <p:spPr>
          <a:xfrm>
            <a:off x="13528227" y="10975138"/>
            <a:ext cx="3599001" cy="24610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1227" spc="0" baseline="59902">
                <a:ln/>
                <a:solidFill>
                  <a:srgbClr val="4A5560"/>
                </a:solidFill>
                <a:latin typeface="Arial"/>
                <a:cs typeface="Arial"/>
                <a:sym typeface="Arial"/>
                <a:rtl val="0"/>
              </a:rPr>
              <a:t>statements count as claims, not forced into causal form.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7F22E5F6-BA3F-92BA-C3CD-B2BBCB245295}"/>
              </a:ext>
            </a:extLst>
          </p:cNvPr>
          <p:cNvSpPr txBox="1"/>
          <p:nvPr/>
        </p:nvSpPr>
        <p:spPr>
          <a:xfrm>
            <a:off x="13528227" y="11394382"/>
            <a:ext cx="312706" cy="315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97" b="1" spc="0" baseline="0">
                <a:ln/>
                <a:solidFill>
                  <a:srgbClr val="14706E"/>
                </a:solidFill>
                <a:latin typeface="Segoe UI Symbol"/>
                <a:ea typeface="Segoe UI Symbol"/>
                <a:sym typeface="Segoe UI Symbol"/>
                <a:rtl val="0"/>
              </a:rPr>
              <a:t>✓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572E6C76-4968-D94D-FB67-DFC67CD2B8CD}"/>
              </a:ext>
            </a:extLst>
          </p:cNvPr>
          <p:cNvSpPr txBox="1"/>
          <p:nvPr/>
        </p:nvSpPr>
        <p:spPr>
          <a:xfrm>
            <a:off x="13781452" y="11442070"/>
            <a:ext cx="1727073" cy="2574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77" b="1" spc="0" baseline="0">
                <a:ln/>
                <a:solidFill>
                  <a:srgbClr val="111418"/>
                </a:solidFill>
                <a:latin typeface="Arial"/>
                <a:cs typeface="Arial"/>
                <a:sym typeface="Arial"/>
                <a:rtl val="0"/>
              </a:rPr>
              <a:t>Blocks fake causality.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9B0F84B4-15B3-D9FA-E4E8-E8EFCC7A96CA}"/>
              </a:ext>
            </a:extLst>
          </p:cNvPr>
          <p:cNvSpPr txBox="1"/>
          <p:nvPr/>
        </p:nvSpPr>
        <p:spPr>
          <a:xfrm>
            <a:off x="13528227" y="11653838"/>
            <a:ext cx="3429952" cy="24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18" spc="0" baseline="0">
                <a:ln/>
                <a:solidFill>
                  <a:srgbClr val="4A5560"/>
                </a:solidFill>
                <a:latin typeface="Arial"/>
                <a:cs typeface="Arial"/>
                <a:sym typeface="Arial"/>
                <a:rtl val="0"/>
              </a:rPr>
              <a:t>A relationship is recorded only when truly asserted or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EF753BB4-ACDD-8C6A-29F5-7770BA96A62C}"/>
              </a:ext>
            </a:extLst>
          </p:cNvPr>
          <p:cNvSpPr txBox="1"/>
          <p:nvPr/>
        </p:nvSpPr>
        <p:spPr>
          <a:xfrm>
            <a:off x="13528227" y="11819292"/>
            <a:ext cx="3680180" cy="24610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1227" spc="0" baseline="59902">
                <a:ln/>
                <a:solidFill>
                  <a:srgbClr val="4A5560"/>
                </a:solidFill>
                <a:latin typeface="Arial"/>
                <a:cs typeface="Arial"/>
                <a:sym typeface="Arial"/>
                <a:rtl val="0"/>
              </a:rPr>
              <a:t>denied, and negation is preserved: "X does not cause Y".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7961C739-A14F-06EA-B37C-ADBEA910F0E1}"/>
              </a:ext>
            </a:extLst>
          </p:cNvPr>
          <p:cNvSpPr txBox="1"/>
          <p:nvPr/>
        </p:nvSpPr>
        <p:spPr>
          <a:xfrm>
            <a:off x="13528227" y="12238537"/>
            <a:ext cx="312706" cy="315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97" b="1" spc="0" baseline="0">
                <a:ln/>
                <a:solidFill>
                  <a:srgbClr val="14706E"/>
                </a:solidFill>
                <a:latin typeface="Segoe UI Symbol"/>
                <a:ea typeface="Segoe UI Symbol"/>
                <a:sym typeface="Segoe UI Symbol"/>
                <a:rtl val="0"/>
              </a:rPr>
              <a:t>✓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CD5EA1F1-2235-62B3-AC12-FC736B5C769C}"/>
              </a:ext>
            </a:extLst>
          </p:cNvPr>
          <p:cNvSpPr txBox="1"/>
          <p:nvPr/>
        </p:nvSpPr>
        <p:spPr>
          <a:xfrm>
            <a:off x="13781452" y="12286225"/>
            <a:ext cx="1570173" cy="2574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77" b="1" spc="0" baseline="0">
                <a:ln/>
                <a:solidFill>
                  <a:srgbClr val="111418"/>
                </a:solidFill>
                <a:latin typeface="Arial"/>
                <a:cs typeface="Arial"/>
                <a:sym typeface="Arial"/>
                <a:rtl val="0"/>
              </a:rPr>
              <a:t>Tracks provenance.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8DFAE034-3F40-C9DA-BEBA-308A4335016C}"/>
              </a:ext>
            </a:extLst>
          </p:cNvPr>
          <p:cNvSpPr txBox="1"/>
          <p:nvPr/>
        </p:nvSpPr>
        <p:spPr>
          <a:xfrm>
            <a:off x="13528227" y="12497993"/>
            <a:ext cx="3830031" cy="24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18" spc="0" baseline="0">
                <a:ln/>
                <a:solidFill>
                  <a:srgbClr val="4A5560"/>
                </a:solidFill>
                <a:latin typeface="Arial"/>
                <a:cs typeface="Arial"/>
                <a:sym typeface="Arial"/>
                <a:rtl val="0"/>
              </a:rPr>
              <a:t>Each claim is marked author_original, endorsed_from_cited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094F4384-CCEF-1F0D-78D9-3DD7E980ECDF}"/>
              </a:ext>
            </a:extLst>
          </p:cNvPr>
          <p:cNvSpPr txBox="1"/>
          <p:nvPr/>
        </p:nvSpPr>
        <p:spPr>
          <a:xfrm>
            <a:off x="13528227" y="12663447"/>
            <a:ext cx="3815027" cy="24610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1227" spc="0" baseline="59902">
                <a:ln/>
                <a:solidFill>
                  <a:srgbClr val="4A5560"/>
                </a:solidFill>
                <a:latin typeface="Arial"/>
                <a:cs typeface="Arial"/>
                <a:sym typeface="Arial"/>
                <a:rtl val="0"/>
              </a:rPr>
              <a:t>or attributed_to_others — papers quote and critique others.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4ADC1284-F73F-D18D-660E-CA6AE371CC2C}"/>
              </a:ext>
            </a:extLst>
          </p:cNvPr>
          <p:cNvSpPr txBox="1"/>
          <p:nvPr/>
        </p:nvSpPr>
        <p:spPr>
          <a:xfrm>
            <a:off x="13528227" y="13082691"/>
            <a:ext cx="312706" cy="315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97" b="1" spc="0" baseline="0">
                <a:ln/>
                <a:solidFill>
                  <a:srgbClr val="14706E"/>
                </a:solidFill>
                <a:latin typeface="Segoe UI Symbol"/>
                <a:ea typeface="Segoe UI Symbol"/>
                <a:sym typeface="Segoe UI Symbol"/>
                <a:rtl val="0"/>
              </a:rPr>
              <a:t>✓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D8E41CE2-CCAE-CCE0-1651-D60D29DD988F}"/>
              </a:ext>
            </a:extLst>
          </p:cNvPr>
          <p:cNvSpPr txBox="1"/>
          <p:nvPr/>
        </p:nvSpPr>
        <p:spPr>
          <a:xfrm>
            <a:off x="13781452" y="13130379"/>
            <a:ext cx="1891952" cy="2574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77" b="1" spc="0" baseline="0">
                <a:ln/>
                <a:solidFill>
                  <a:srgbClr val="111418"/>
                </a:solidFill>
                <a:latin typeface="Arial"/>
                <a:cs typeface="Arial"/>
                <a:sym typeface="Arial"/>
                <a:rtl val="0"/>
              </a:rPr>
              <a:t>Links claim to evidence.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45013FF1-6F73-BBA3-5A51-423E8FF4A32F}"/>
              </a:ext>
            </a:extLst>
          </p:cNvPr>
          <p:cNvSpPr txBox="1"/>
          <p:nvPr/>
        </p:nvSpPr>
        <p:spPr>
          <a:xfrm>
            <a:off x="13528227" y="13342147"/>
            <a:ext cx="3460571" cy="246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18" spc="0" baseline="0">
                <a:ln/>
                <a:solidFill>
                  <a:srgbClr val="4A5560"/>
                </a:solidFill>
                <a:latin typeface="Arial"/>
                <a:cs typeface="Arial"/>
                <a:sym typeface="Arial"/>
                <a:rtl val="0"/>
              </a:rPr>
              <a:t>Every claim carries type, strength, support_mode and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D22D33A6-DFD3-A728-6364-86849BEBD201}"/>
              </a:ext>
            </a:extLst>
          </p:cNvPr>
          <p:cNvSpPr txBox="1"/>
          <p:nvPr/>
        </p:nvSpPr>
        <p:spPr>
          <a:xfrm>
            <a:off x="13528227" y="13507601"/>
            <a:ext cx="2983436" cy="24610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/>
            <a:r>
              <a:rPr lang="en-GB" sz="1227" spc="0" baseline="59902">
                <a:ln/>
                <a:solidFill>
                  <a:srgbClr val="4A5560"/>
                </a:solidFill>
                <a:latin typeface="Arial"/>
                <a:cs typeface="Arial"/>
                <a:sym typeface="Arial"/>
                <a:rtl val="0"/>
              </a:rPr>
              <a:t>supporting_claims — a trail you can re-check.</a:t>
            </a:r>
          </a:p>
        </p:txBody>
      </p:sp>
      <p:sp>
        <p:nvSpPr>
          <p:cNvPr id="276" name="Freeform: Shape 275">
            <a:extLst>
              <a:ext uri="{FF2B5EF4-FFF2-40B4-BE49-F238E27FC236}">
                <a16:creationId xmlns:a16="http://schemas.microsoft.com/office/drawing/2014/main" id="{E7B4BE85-D2C3-028E-58FC-60210579ED06}"/>
              </a:ext>
            </a:extLst>
          </p:cNvPr>
          <p:cNvSpPr/>
          <p:nvPr/>
        </p:nvSpPr>
        <p:spPr>
          <a:xfrm>
            <a:off x="1168010" y="14222284"/>
            <a:ext cx="19143761" cy="16883"/>
          </a:xfrm>
          <a:custGeom>
            <a:avLst/>
            <a:gdLst>
              <a:gd name="csX0" fmla="*/ 0 w 19143761"/>
              <a:gd name="csY0" fmla="*/ 0 h 16883"/>
              <a:gd name="csX1" fmla="*/ 19143762 w 19143761"/>
              <a:gd name="csY1" fmla="*/ 0 h 1688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143761" h="16883">
                <a:moveTo>
                  <a:pt x="0" y="0"/>
                </a:moveTo>
                <a:lnTo>
                  <a:pt x="19143762" y="0"/>
                </a:lnTo>
              </a:path>
            </a:pathLst>
          </a:custGeom>
          <a:ln w="16881" cap="flat">
            <a:solidFill>
              <a:srgbClr val="D8DCDF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99B177B3-2A23-85C6-E95A-BE5D42ADE8D9}"/>
              </a:ext>
            </a:extLst>
          </p:cNvPr>
          <p:cNvSpPr txBox="1"/>
          <p:nvPr/>
        </p:nvSpPr>
        <p:spPr>
          <a:xfrm>
            <a:off x="1076570" y="14275373"/>
            <a:ext cx="2687786" cy="2611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97" b="1" spc="106" baseline="0">
                <a:ln/>
                <a:solidFill>
                  <a:srgbClr val="14706E"/>
                </a:solidFill>
                <a:latin typeface="Arial"/>
                <a:cs typeface="Arial"/>
                <a:sym typeface="Arial"/>
                <a:rtl val="0"/>
              </a:rPr>
              <a:t>TAKE THESE TO ANY PROMPT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F21FA4F1-204E-D90A-F59D-8F732136A721}"/>
              </a:ext>
            </a:extLst>
          </p:cNvPr>
          <p:cNvSpPr txBox="1"/>
          <p:nvPr/>
        </p:nvSpPr>
        <p:spPr>
          <a:xfrm>
            <a:off x="1076570" y="14467200"/>
            <a:ext cx="12837600" cy="2536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857" spc="0" baseline="0">
                <a:ln/>
                <a:solidFill>
                  <a:srgbClr val="3A444C"/>
                </a:solidFill>
                <a:latin typeface="Arial"/>
                <a:cs typeface="Arial"/>
                <a:sym typeface="Arial"/>
                <a:rtl val="0"/>
              </a:rPr>
              <a:t>1 Give it a role · 2 Name the job · 3 Define your terms · 4 Offer a fixed menu · 5 Forbid inventing · 6 Track sourcing · 7 Quote, don't paraphrase · 8 Ask for a shape · 9 Plan for "nothing" &amp; template it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AA4779-70D1-81F1-44C3-49B5C831C0A8}"/>
              </a:ext>
            </a:extLst>
          </p:cNvPr>
          <p:cNvGrpSpPr/>
          <p:nvPr/>
        </p:nvGrpSpPr>
        <p:grpSpPr>
          <a:xfrm>
            <a:off x="12981032" y="1847842"/>
            <a:ext cx="50644" cy="12003875"/>
            <a:chOff x="6316905" y="1846980"/>
            <a:chExt cx="50644" cy="12003875"/>
          </a:xfrm>
        </p:grpSpPr>
        <p:sp>
          <p:nvSpPr>
            <p:cNvPr id="279" name="Rectangle: Rounded Corners 278">
              <a:extLst>
                <a:ext uri="{FF2B5EF4-FFF2-40B4-BE49-F238E27FC236}">
                  <a16:creationId xmlns:a16="http://schemas.microsoft.com/office/drawing/2014/main" id="{56659D48-21CE-6AB3-7D0F-37854450E6EB}"/>
                </a:ext>
              </a:extLst>
            </p:cNvPr>
            <p:cNvSpPr/>
            <p:nvPr/>
          </p:nvSpPr>
          <p:spPr>
            <a:xfrm>
              <a:off x="6316905" y="1846980"/>
              <a:ext cx="50644" cy="675323"/>
            </a:xfrm>
            <a:prstGeom prst="roundRect">
              <a:avLst>
                <a:gd name="adj" fmla="val 50000"/>
              </a:avLst>
            </a:prstGeom>
            <a:solidFill>
              <a:srgbClr val="14706E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0" name="Rectangle: Rounded Corners 279">
              <a:extLst>
                <a:ext uri="{FF2B5EF4-FFF2-40B4-BE49-F238E27FC236}">
                  <a16:creationId xmlns:a16="http://schemas.microsoft.com/office/drawing/2014/main" id="{FB93D543-33BE-1811-8269-13F478A8BAA2}"/>
                </a:ext>
              </a:extLst>
            </p:cNvPr>
            <p:cNvSpPr/>
            <p:nvPr/>
          </p:nvSpPr>
          <p:spPr>
            <a:xfrm>
              <a:off x="6316905" y="2606719"/>
              <a:ext cx="50644" cy="455843"/>
            </a:xfrm>
            <a:prstGeom prst="roundRect">
              <a:avLst>
                <a:gd name="adj" fmla="val 50000"/>
              </a:avLst>
            </a:prstGeom>
            <a:solidFill>
              <a:srgbClr val="3B4E9B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1" name="Rectangle: Rounded Corners 280">
              <a:extLst>
                <a:ext uri="{FF2B5EF4-FFF2-40B4-BE49-F238E27FC236}">
                  <a16:creationId xmlns:a16="http://schemas.microsoft.com/office/drawing/2014/main" id="{856E58E7-A5B5-07A1-C3AC-D231130D6903}"/>
                </a:ext>
              </a:extLst>
            </p:cNvPr>
            <p:cNvSpPr/>
            <p:nvPr/>
          </p:nvSpPr>
          <p:spPr>
            <a:xfrm>
              <a:off x="6316905" y="3146977"/>
              <a:ext cx="50644" cy="877920"/>
            </a:xfrm>
            <a:prstGeom prst="roundRect">
              <a:avLst>
                <a:gd name="adj" fmla="val 50000"/>
              </a:avLst>
            </a:prstGeom>
            <a:solidFill>
              <a:srgbClr val="B8761A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2" name="Rectangle: Rounded Corners 281">
              <a:extLst>
                <a:ext uri="{FF2B5EF4-FFF2-40B4-BE49-F238E27FC236}">
                  <a16:creationId xmlns:a16="http://schemas.microsoft.com/office/drawing/2014/main" id="{EBF4CCAB-DD3A-4D29-9E94-9213C027829D}"/>
                </a:ext>
              </a:extLst>
            </p:cNvPr>
            <p:cNvSpPr/>
            <p:nvPr/>
          </p:nvSpPr>
          <p:spPr>
            <a:xfrm>
              <a:off x="6316905" y="4109313"/>
              <a:ext cx="50644" cy="1435062"/>
            </a:xfrm>
            <a:prstGeom prst="roundRect">
              <a:avLst>
                <a:gd name="adj" fmla="val 50000"/>
              </a:avLst>
            </a:prstGeom>
            <a:solidFill>
              <a:srgbClr val="9C2C57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3" name="Rectangle: Rounded Corners 282">
              <a:extLst>
                <a:ext uri="{FF2B5EF4-FFF2-40B4-BE49-F238E27FC236}">
                  <a16:creationId xmlns:a16="http://schemas.microsoft.com/office/drawing/2014/main" id="{9CE221D7-7CCE-170A-98C4-4681B99EC373}"/>
                </a:ext>
              </a:extLst>
            </p:cNvPr>
            <p:cNvSpPr/>
            <p:nvPr/>
          </p:nvSpPr>
          <p:spPr>
            <a:xfrm>
              <a:off x="6316905" y="5628791"/>
              <a:ext cx="50644" cy="776622"/>
            </a:xfrm>
            <a:prstGeom prst="roundRect">
              <a:avLst>
                <a:gd name="adj" fmla="val 50000"/>
              </a:avLst>
            </a:prstGeom>
            <a:solidFill>
              <a:srgbClr val="2E7D55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4" name="Rectangle: Rounded Corners 283">
              <a:extLst>
                <a:ext uri="{FF2B5EF4-FFF2-40B4-BE49-F238E27FC236}">
                  <a16:creationId xmlns:a16="http://schemas.microsoft.com/office/drawing/2014/main" id="{8AB41FD7-8EBC-A755-2142-67C8BDEEAD0B}"/>
                </a:ext>
              </a:extLst>
            </p:cNvPr>
            <p:cNvSpPr/>
            <p:nvPr/>
          </p:nvSpPr>
          <p:spPr>
            <a:xfrm>
              <a:off x="6316905" y="6489829"/>
              <a:ext cx="50644" cy="557141"/>
            </a:xfrm>
            <a:prstGeom prst="roundRect">
              <a:avLst>
                <a:gd name="adj" fmla="val 50000"/>
              </a:avLst>
            </a:prstGeom>
            <a:solidFill>
              <a:srgbClr val="1F6E8C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5" name="Rectangle: Rounded Corners 284">
              <a:extLst>
                <a:ext uri="{FF2B5EF4-FFF2-40B4-BE49-F238E27FC236}">
                  <a16:creationId xmlns:a16="http://schemas.microsoft.com/office/drawing/2014/main" id="{3123D618-0D7E-DD28-2D58-A65A63F4639C}"/>
                </a:ext>
              </a:extLst>
            </p:cNvPr>
            <p:cNvSpPr/>
            <p:nvPr/>
          </p:nvSpPr>
          <p:spPr>
            <a:xfrm>
              <a:off x="6316905" y="7148270"/>
              <a:ext cx="50644" cy="1097400"/>
            </a:xfrm>
            <a:prstGeom prst="roundRect">
              <a:avLst>
                <a:gd name="adj" fmla="val 50000"/>
              </a:avLst>
            </a:prstGeom>
            <a:solidFill>
              <a:srgbClr val="B8761A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6" name="Rectangle: Rounded Corners 285">
              <a:extLst>
                <a:ext uri="{FF2B5EF4-FFF2-40B4-BE49-F238E27FC236}">
                  <a16:creationId xmlns:a16="http://schemas.microsoft.com/office/drawing/2014/main" id="{FED2CA3B-143C-6272-6B6A-A123E453B293}"/>
                </a:ext>
              </a:extLst>
            </p:cNvPr>
            <p:cNvSpPr/>
            <p:nvPr/>
          </p:nvSpPr>
          <p:spPr>
            <a:xfrm>
              <a:off x="6316905" y="8330086"/>
              <a:ext cx="50644" cy="135064"/>
            </a:xfrm>
            <a:prstGeom prst="roundRect">
              <a:avLst>
                <a:gd name="adj" fmla="val 50000"/>
              </a:avLst>
            </a:prstGeom>
            <a:solidFill>
              <a:srgbClr val="A23E2A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7" name="Rectangle: Rounded Corners 286">
              <a:extLst>
                <a:ext uri="{FF2B5EF4-FFF2-40B4-BE49-F238E27FC236}">
                  <a16:creationId xmlns:a16="http://schemas.microsoft.com/office/drawing/2014/main" id="{B70D6DF1-636A-BE36-AA7C-D2E01D8EBB57}"/>
                </a:ext>
              </a:extLst>
            </p:cNvPr>
            <p:cNvSpPr/>
            <p:nvPr/>
          </p:nvSpPr>
          <p:spPr>
            <a:xfrm>
              <a:off x="6316905" y="8549566"/>
              <a:ext cx="50644" cy="3663630"/>
            </a:xfrm>
            <a:prstGeom prst="roundRect">
              <a:avLst>
                <a:gd name="adj" fmla="val 50000"/>
              </a:avLst>
            </a:prstGeom>
            <a:solidFill>
              <a:srgbClr val="6A4A9C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8" name="Rectangle: Rounded Corners 287">
              <a:extLst>
                <a:ext uri="{FF2B5EF4-FFF2-40B4-BE49-F238E27FC236}">
                  <a16:creationId xmlns:a16="http://schemas.microsoft.com/office/drawing/2014/main" id="{AA77267D-E19C-1E2F-7805-1C959B3F15C2}"/>
                </a:ext>
              </a:extLst>
            </p:cNvPr>
            <p:cNvSpPr/>
            <p:nvPr/>
          </p:nvSpPr>
          <p:spPr>
            <a:xfrm>
              <a:off x="6316905" y="12331378"/>
              <a:ext cx="50644" cy="861037"/>
            </a:xfrm>
            <a:prstGeom prst="roundRect">
              <a:avLst>
                <a:gd name="adj" fmla="val 50000"/>
              </a:avLst>
            </a:prstGeom>
            <a:solidFill>
              <a:srgbClr val="B8761A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9" name="Rectangle: Rounded Corners 288">
              <a:extLst>
                <a:ext uri="{FF2B5EF4-FFF2-40B4-BE49-F238E27FC236}">
                  <a16:creationId xmlns:a16="http://schemas.microsoft.com/office/drawing/2014/main" id="{91D54F8C-89DC-AFB7-AAD1-60A791D84F9A}"/>
                </a:ext>
              </a:extLst>
            </p:cNvPr>
            <p:cNvSpPr/>
            <p:nvPr/>
          </p:nvSpPr>
          <p:spPr>
            <a:xfrm>
              <a:off x="6316905" y="13293714"/>
              <a:ext cx="50644" cy="557141"/>
            </a:xfrm>
            <a:prstGeom prst="roundRect">
              <a:avLst>
                <a:gd name="adj" fmla="val 50000"/>
              </a:avLst>
            </a:prstGeom>
            <a:solidFill>
              <a:srgbClr val="4A5A66"/>
            </a:solidFill>
            <a:ln w="16881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91" name="version_badge"/>
          <p:cNvSpPr txBox="1"/>
          <p:nvPr/>
        </p:nvSpPr>
        <p:spPr>
          <a:xfrm>
            <a:off x="15453359" y="658368"/>
            <a:ext cx="221727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FF0000"/>
                </a:solidFill>
                <a:latin typeface="Arial"/>
              </a:rPr>
              <a:t>TEMPLATE - DO NOT DELETE</a:t>
            </a:r>
          </a:p>
        </p:txBody>
      </p:sp>
      <p:sp>
        <p:nvSpPr>
          <p:cNvPr id="292" name="prompt_body"/>
          <p:cNvSpPr txBox="1"/>
          <p:nvPr/>
        </p:nvSpPr>
        <p:spPr>
          <a:xfrm>
            <a:off x="6611112" y="1783080"/>
            <a:ext cx="635508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FF0000"/>
                </a:solidFill>
                <a:latin typeface="Consolas"/>
              </a:rPr>
              <a:t>HOW TO ADD A PROMPT SLIDE</a:t>
            </a:r>
          </a:p>
          <a:p>
            <a:r>
              <a:rPr sz="1400" b="0" dirty="0">
                <a:solidFill>
                  <a:srgbClr val="FF0000"/>
                </a:solidFill>
                <a:latin typeface="Consolas"/>
              </a:rPr>
              <a:t>(this box is auto-replaced with the prompt text)</a:t>
            </a:r>
          </a:p>
          <a:p>
            <a:r>
              <a:rPr sz="1400" b="0" dirty="0">
                <a:solidFill>
                  <a:srgbClr val="FF0000"/>
                </a:solidFill>
                <a:latin typeface="Consolas"/>
              </a:rPr>
              <a:t> </a:t>
            </a:r>
          </a:p>
          <a:p>
            <a:r>
              <a:rPr sz="1400" b="0" dirty="0">
                <a:solidFill>
                  <a:srgbClr val="FF0000"/>
                </a:solidFill>
                <a:latin typeface="Consolas"/>
              </a:rPr>
              <a:t>1. From the repo root run:</a:t>
            </a:r>
          </a:p>
          <a:p>
            <a:r>
              <a:rPr sz="1400" b="0" dirty="0">
                <a:solidFill>
                  <a:srgbClr val="FF0000"/>
                </a:solidFill>
                <a:latin typeface="Consolas"/>
              </a:rPr>
              <a:t>   python poster/make_slide.py prompts/claims_v7.txt poster/poster_deck.pptx</a:t>
            </a:r>
          </a:p>
          <a:p>
            <a:r>
              <a:rPr sz="1400" b="0" dirty="0">
                <a:solidFill>
                  <a:srgbClr val="FF0000"/>
                </a:solidFill>
                <a:latin typeface="Consolas"/>
              </a:rPr>
              <a:t>2. The new slide appears just before this template; no other slide is touched.</a:t>
            </a:r>
          </a:p>
          <a:p>
            <a:r>
              <a:rPr sz="1400" b="0" dirty="0">
                <a:solidFill>
                  <a:srgbClr val="FF0000"/>
                </a:solidFill>
                <a:latin typeface="Consolas"/>
              </a:rPr>
              <a:t>3. Hand-edit the NEW slide: annotation cards, numbered dot anchors, leader lines.</a:t>
            </a:r>
          </a:p>
          <a:p>
            <a:r>
              <a:rPr sz="1400" b="0" dirty="0">
                <a:solidFill>
                  <a:srgbClr val="FF0000"/>
                </a:solidFill>
                <a:latin typeface="Consolas"/>
              </a:rPr>
              <a:t> </a:t>
            </a:r>
          </a:p>
          <a:p>
            <a:r>
              <a:rPr sz="1400" b="1" dirty="0">
                <a:solidFill>
                  <a:srgbClr val="FF0000"/>
                </a:solidFill>
                <a:latin typeface="Consolas"/>
              </a:rPr>
              <a:t>EDITING THIS TEMPLATE</a:t>
            </a:r>
          </a:p>
          <a:p>
            <a:r>
              <a:rPr sz="1400" b="0" dirty="0">
                <a:solidFill>
                  <a:srgbClr val="FF0000"/>
                </a:solidFill>
                <a:latin typeface="Consolas"/>
              </a:rPr>
              <a:t>Restyle freely - cards, </a:t>
            </a:r>
            <a:r>
              <a:rPr sz="1400" b="0" dirty="0" err="1">
                <a:solidFill>
                  <a:srgbClr val="FF0000"/>
                </a:solidFill>
                <a:latin typeface="Consolas"/>
              </a:rPr>
              <a:t>colours</a:t>
            </a:r>
            <a:r>
              <a:rPr sz="1400" b="0" dirty="0">
                <a:solidFill>
                  <a:srgbClr val="FF0000"/>
                </a:solidFill>
                <a:latin typeface="Consolas"/>
              </a:rPr>
              <a:t>, layout are inherited by future slides.</a:t>
            </a:r>
          </a:p>
          <a:p>
            <a:r>
              <a:rPr sz="1400" b="0" dirty="0">
                <a:solidFill>
                  <a:srgbClr val="FF0000"/>
                </a:solidFill>
                <a:latin typeface="Consolas"/>
              </a:rPr>
              <a:t>Keep only two things:</a:t>
            </a:r>
          </a:p>
          <a:p>
            <a:r>
              <a:rPr sz="1400" b="0" dirty="0">
                <a:solidFill>
                  <a:srgbClr val="FF0000"/>
                </a:solidFill>
                <a:latin typeface="Consolas"/>
              </a:rPr>
              <a:t>  - this box, named </a:t>
            </a:r>
            <a:r>
              <a:rPr sz="1400" b="0" dirty="0" err="1">
                <a:solidFill>
                  <a:srgbClr val="FF0000"/>
                </a:solidFill>
                <a:latin typeface="Consolas"/>
              </a:rPr>
              <a:t>prompt_body</a:t>
            </a:r>
            <a:endParaRPr sz="1400" b="0" dirty="0">
              <a:solidFill>
                <a:srgbClr val="FF0000"/>
              </a:solidFill>
              <a:latin typeface="Consolas"/>
            </a:endParaRPr>
          </a:p>
          <a:p>
            <a:r>
              <a:rPr sz="1400" b="0" dirty="0">
                <a:solidFill>
                  <a:srgbClr val="FF0000"/>
                </a:solidFill>
                <a:latin typeface="Consolas"/>
              </a:rPr>
              <a:t>  - the badge, named </a:t>
            </a:r>
            <a:r>
              <a:rPr sz="1400" b="0" dirty="0" err="1">
                <a:solidFill>
                  <a:srgbClr val="FF0000"/>
                </a:solidFill>
                <a:latin typeface="Consolas"/>
              </a:rPr>
              <a:t>version_badge</a:t>
            </a:r>
            <a:r>
              <a:rPr sz="1400" b="0" dirty="0">
                <a:solidFill>
                  <a:srgbClr val="FF0000"/>
                </a:solidFill>
                <a:latin typeface="Consolas"/>
              </a:rPr>
              <a:t>, its text starting with TEMPLATE</a:t>
            </a:r>
          </a:p>
          <a:p>
            <a:r>
              <a:rPr sz="1400" b="0" dirty="0">
                <a:solidFill>
                  <a:srgbClr val="FF0000"/>
                </a:solidFill>
                <a:latin typeface="Consolas"/>
              </a:rPr>
              <a:t>(shape names: Home &gt; Select &gt; Selection Pane)</a:t>
            </a:r>
          </a:p>
          <a:p>
            <a:r>
              <a:rPr sz="1400" b="0" dirty="0">
                <a:solidFill>
                  <a:srgbClr val="FF0000"/>
                </a:solidFill>
                <a:latin typeface="Consolas"/>
              </a:rPr>
              <a:t> </a:t>
            </a:r>
          </a:p>
          <a:p>
            <a:r>
              <a:rPr sz="1400" b="1" dirty="0">
                <a:solidFill>
                  <a:srgbClr val="FF0000"/>
                </a:solidFill>
                <a:latin typeface="Consolas"/>
              </a:rPr>
              <a:t>POSTER SIZE</a:t>
            </a:r>
          </a:p>
          <a:p>
            <a:r>
              <a:rPr sz="1400" b="0" dirty="0">
                <a:solidFill>
                  <a:srgbClr val="FF0000"/>
                </a:solidFill>
                <a:latin typeface="Consolas"/>
              </a:rPr>
              <a:t>A2 landscape, 594 x 420 mm. Print at 100% / actual size.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C2E035-6579-D986-4824-8FF38537D556}"/>
              </a:ext>
            </a:extLst>
          </p:cNvPr>
          <p:cNvSpPr/>
          <p:nvPr/>
        </p:nvSpPr>
        <p:spPr>
          <a:xfrm>
            <a:off x="317241" y="167951"/>
            <a:ext cx="20657975" cy="14761029"/>
          </a:xfrm>
          <a:prstGeom prst="rect">
            <a:avLst/>
          </a:prstGeom>
          <a:noFill/>
          <a:ln w="190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3035</Words>
  <Application>Microsoft Office PowerPoint</Application>
  <PresentationFormat>Custom</PresentationFormat>
  <Paragraphs>317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Consolas</vt:lpstr>
      <vt:lpstr>Segoe UI Symbol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Bonnie Buyuklieva</dc:creator>
  <cp:lastModifiedBy>Bonnie Buyuklieva</cp:lastModifiedBy>
  <cp:revision>12</cp:revision>
  <dcterms:created xsi:type="dcterms:W3CDTF">2026-06-15T12:34:39Z</dcterms:created>
  <dcterms:modified xsi:type="dcterms:W3CDTF">2026-09-01T11:09:14Z</dcterms:modified>
</cp:coreProperties>
</file>